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">
            <a:off x="-1097280" y="3840480"/>
            <a:ext cx="5943600" cy="2743200"/>
          </a:xfrm>
          <a:prstGeom prst="rect">
            <a:avLst/>
          </a:prstGeom>
          <a:solidFill>
            <a:srgbClr val="74792E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1080000">
            <a:off x="5120640" y="-1463040"/>
            <a:ext cx="5943600" cy="2743200"/>
          </a:xfrm>
          <a:prstGeom prst="rect">
            <a:avLst/>
          </a:prstGeom>
          <a:solidFill>
            <a:srgbClr val="9FA742">
              <a:alpha val="14000"/>
            </a:srgbClr>
          </a:solidFill>
          <a:ln/>
        </p:spPr>
      </p:sp>
      <p:pic>
        <p:nvPicPr>
          <p:cNvPr id="4" name="Image 0" descr="/sessions/wizardly-modest-ritchie/mnt/slide-factory/template/NFTLogo_Vertical_FullColou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292608"/>
            <a:ext cx="713232" cy="89714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0" y="416052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Insert Name  ·  Insert Position</a:t>
            </a:r>
            <a:endParaRPr lang="en-US" sz="800" dirty="0"/>
          </a:p>
          <a:p>
            <a:pPr algn="r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work.email@nexusfrontier.tech</a:t>
            </a:r>
            <a:endParaRPr lang="en-US" sz="800" dirty="0"/>
          </a:p>
          <a:p>
            <a:pPr algn="r" indent="0" marL="0">
              <a:lnSpc>
                <a:spcPct val="11500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www.nexusfrontier.tech  ·  www.onenexus.ai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365760" y="155448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200" kern="0" dirty="0">
                <a:solidFill>
                  <a:srgbClr val="C2CF24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OPERATING MODEL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6035040" y="1517904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8D253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04 June 2026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365760" y="187452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Revenue-First Operating Cadence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365760" y="2606040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6E6E6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A new reporting &amp; stand-up model. Every meeting opens with the number — then the gap, the move, and the blocker. In that order.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365760" y="38862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200" kern="0" dirty="0">
                <a:solidFill>
                  <a:srgbClr val="C2CF24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ONE CHAIN OF VALUE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365760" y="4160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Pipeline</a:t>
            </a:r>
            <a:pPr algn="l" indent="0" marL="0">
              <a:buNone/>
            </a:pPr>
            <a:r>
              <a:rPr lang="en-US" sz="1300" b="1" dirty="0">
                <a:solidFill>
                  <a:srgbClr val="C2CF2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 ›   </a:t>
            </a:r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Commitment</a:t>
            </a:r>
            <a:pPr algn="l" indent="0" marL="0">
              <a:buNone/>
            </a:pPr>
            <a:r>
              <a:rPr lang="en-US" sz="1300" b="1" dirty="0">
                <a:solidFill>
                  <a:srgbClr val="C2CF2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 ›   </a:t>
            </a:r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Delivery</a:t>
            </a:r>
            <a:pPr algn="l" indent="0" marL="0">
              <a:buNone/>
            </a:pPr>
            <a:r>
              <a:rPr lang="en-US" sz="1300" b="1" dirty="0">
                <a:solidFill>
                  <a:srgbClr val="C2CF2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 ›   </a:t>
            </a:r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Invoice</a:t>
            </a:r>
            <a:pPr algn="l" indent="0" marL="0">
              <a:buNone/>
            </a:pPr>
            <a:r>
              <a:rPr lang="en-US" sz="1300" b="1" dirty="0">
                <a:solidFill>
                  <a:srgbClr val="C2CF2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 ›   </a:t>
            </a:r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Cash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365760" y="486460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FFFFFF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©2026 Nexus Frontier Tech  |  Confidential</a:t>
            </a:r>
            <a:endParaRPr lang="en-US" sz="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2004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200" kern="0" dirty="0">
                <a:solidFill>
                  <a:srgbClr val="C2CF24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THE COMPOUNDING FLYWHEEL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65760" y="603504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656C18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We Sell AI Workers. We Charge Per Outcome.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365760" y="10972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56C1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Nexus Outcome Unit (NCU) is a completed, quality-assured business outcome — not a seat, not a model.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234440" y="1874520"/>
            <a:ext cx="2743200" cy="2743200"/>
          </a:xfrm>
          <a:prstGeom prst="ellipse">
            <a:avLst/>
          </a:prstGeom>
          <a:ln w="76200">
            <a:solidFill>
              <a:srgbClr val="EBEEC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92808" y="2532888"/>
            <a:ext cx="1426464" cy="1426464"/>
          </a:xfrm>
          <a:prstGeom prst="ellipse">
            <a:avLst/>
          </a:prstGeom>
          <a:solidFill>
            <a:srgbClr val="9FA742"/>
          </a:solidFill>
          <a:ln/>
        </p:spPr>
      </p:sp>
      <p:sp>
        <p:nvSpPr>
          <p:cNvPr id="7" name="Text 5"/>
          <p:cNvSpPr/>
          <p:nvPr/>
        </p:nvSpPr>
        <p:spPr>
          <a:xfrm>
            <a:off x="1892808" y="2532888"/>
            <a:ext cx="1426464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NCU</a:t>
            </a:r>
            <a:endParaRPr lang="en-US" sz="13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flywheel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514600" y="16002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56C1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More services</a:t>
            </a:r>
            <a:endParaRPr lang="en-US" sz="95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Richer data fed back to platform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657600" y="40690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56C1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Smarter platform</a:t>
            </a:r>
            <a:endParaRPr lang="en-US" sz="95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Lower cost, faster deployments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48640" y="40690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56C1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More NCU volume</a:t>
            </a:r>
            <a:endParaRPr lang="en-US" sz="95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More clients, more processes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331720" y="14630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FA74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↻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212080" y="1691640"/>
            <a:ext cx="54864" cy="841248"/>
          </a:xfrm>
          <a:prstGeom prst="rect">
            <a:avLst/>
          </a:prstGeom>
          <a:solidFill>
            <a:srgbClr val="9FA742"/>
          </a:solidFill>
          <a:ln/>
        </p:spPr>
      </p:sp>
      <p:sp>
        <p:nvSpPr>
          <p:cNvPr id="13" name="Text 11"/>
          <p:cNvSpPr/>
          <p:nvPr/>
        </p:nvSpPr>
        <p:spPr>
          <a:xfrm>
            <a:off x="5440680" y="169164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56C18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Fixed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440680" y="2075688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59595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Output per NCU — no ambiguous scope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212080" y="2715768"/>
            <a:ext cx="54864" cy="841248"/>
          </a:xfrm>
          <a:prstGeom prst="rect">
            <a:avLst/>
          </a:prstGeom>
          <a:solidFill>
            <a:srgbClr val="9FA742"/>
          </a:solidFill>
          <a:ln/>
        </p:spPr>
      </p:sp>
      <p:sp>
        <p:nvSpPr>
          <p:cNvPr id="16" name="Text 14"/>
          <p:cNvSpPr/>
          <p:nvPr/>
        </p:nvSpPr>
        <p:spPr>
          <a:xfrm>
            <a:off x="5440680" y="2715768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56C18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100%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440680" y="3099816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59595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Human-assured quality on every deliverable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212080" y="3739896"/>
            <a:ext cx="54864" cy="841248"/>
          </a:xfrm>
          <a:prstGeom prst="rect">
            <a:avLst/>
          </a:prstGeom>
          <a:solidFill>
            <a:srgbClr val="9FA742"/>
          </a:solidFill>
          <a:ln/>
        </p:spPr>
      </p:sp>
      <p:sp>
        <p:nvSpPr>
          <p:cNvPr id="19" name="Text 17"/>
          <p:cNvSpPr/>
          <p:nvPr/>
        </p:nvSpPr>
        <p:spPr>
          <a:xfrm>
            <a:off x="5440680" y="3739896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56C18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↑ Margin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440680" y="4123944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59595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Platform learns, cost-per-NCU falls over time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365760" y="486460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A8B563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©2026 Nexus Frontier Tech  |  Confidential</a:t>
            </a:r>
            <a:endParaRPr lang="en-US" sz="600" dirty="0"/>
          </a:p>
        </p:txBody>
      </p:sp>
      <p:sp>
        <p:nvSpPr>
          <p:cNvPr id="22" name="Text 20"/>
          <p:cNvSpPr/>
          <p:nvPr/>
        </p:nvSpPr>
        <p:spPr>
          <a:xfrm>
            <a:off x="4206240" y="486460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A8B563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www.nexusfrontier.tech  ·  www.onenexus.ai</a:t>
            </a:r>
            <a:endParaRPr lang="en-US" sz="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2004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200" kern="0" dirty="0">
                <a:solidFill>
                  <a:srgbClr val="C2CF24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THE REPORTING STRUCTURE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65760" y="603504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656C18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One chain of value — every team owns a segment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365760" y="10972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56C1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Each team reports against the part of the chain it controls. It all rolls up to a single company number.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600200"/>
            <a:ext cx="1594714" cy="1874520"/>
          </a:xfrm>
          <a:prstGeom prst="rect">
            <a:avLst/>
          </a:prstGeom>
          <a:solidFill>
            <a:srgbClr val="F8F9F8"/>
          </a:solidFill>
          <a:ln w="6350">
            <a:solidFill>
              <a:srgbClr val="D5D5D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12064" y="1746504"/>
            <a:ext cx="384048" cy="384048"/>
          </a:xfrm>
          <a:prstGeom prst="ellipse">
            <a:avLst/>
          </a:prstGeom>
          <a:solidFill>
            <a:srgbClr val="9FA742"/>
          </a:solidFill>
          <a:ln/>
        </p:spPr>
      </p:sp>
      <p:sp>
        <p:nvSpPr>
          <p:cNvPr id="7" name="Text 5"/>
          <p:cNvSpPr/>
          <p:nvPr/>
        </p:nvSpPr>
        <p:spPr>
          <a:xfrm>
            <a:off x="512064" y="17465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12064" y="2203704"/>
            <a:ext cx="13203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3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Pipeline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12064" y="2514600"/>
            <a:ext cx="132039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59595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Qualified opportunities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12064" y="3017520"/>
            <a:ext cx="132039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spc="100" kern="0" dirty="0">
                <a:solidFill>
                  <a:srgbClr val="9FA742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OWNER</a:t>
            </a:r>
            <a:endParaRPr lang="en-US" sz="600" dirty="0"/>
          </a:p>
        </p:txBody>
      </p:sp>
      <p:sp>
        <p:nvSpPr>
          <p:cNvPr id="11" name="Text 9"/>
          <p:cNvSpPr/>
          <p:nvPr/>
        </p:nvSpPr>
        <p:spPr>
          <a:xfrm>
            <a:off x="512064" y="3163824"/>
            <a:ext cx="132039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56C1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Sales / BD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923898" y="1600200"/>
            <a:ext cx="18288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FA74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›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070202" y="1600200"/>
            <a:ext cx="1594714" cy="1874520"/>
          </a:xfrm>
          <a:prstGeom prst="rect">
            <a:avLst/>
          </a:prstGeom>
          <a:solidFill>
            <a:srgbClr val="F4F6F9"/>
          </a:solidFill>
          <a:ln w="6350">
            <a:solidFill>
              <a:srgbClr val="D5D5D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216506" y="1746504"/>
            <a:ext cx="384048" cy="384048"/>
          </a:xfrm>
          <a:prstGeom prst="ellipse">
            <a:avLst/>
          </a:prstGeom>
          <a:solidFill>
            <a:srgbClr val="9FA742"/>
          </a:solidFill>
          <a:ln/>
        </p:spPr>
      </p:sp>
      <p:sp>
        <p:nvSpPr>
          <p:cNvPr id="15" name="Text 13"/>
          <p:cNvSpPr/>
          <p:nvPr/>
        </p:nvSpPr>
        <p:spPr>
          <a:xfrm>
            <a:off x="2216506" y="17465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216506" y="2203704"/>
            <a:ext cx="13203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3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Commitment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2216506" y="2514600"/>
            <a:ext cx="132039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59595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Signed &amp; committed SoWs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2216506" y="3017520"/>
            <a:ext cx="132039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spc="100" kern="0" dirty="0">
                <a:solidFill>
                  <a:srgbClr val="9FA742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OWNER</a:t>
            </a:r>
            <a:endParaRPr lang="en-US" sz="600" dirty="0"/>
          </a:p>
        </p:txBody>
      </p:sp>
      <p:sp>
        <p:nvSpPr>
          <p:cNvPr id="19" name="Text 17"/>
          <p:cNvSpPr/>
          <p:nvPr/>
        </p:nvSpPr>
        <p:spPr>
          <a:xfrm>
            <a:off x="2216506" y="3163824"/>
            <a:ext cx="132039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56C1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Pre-Sales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628339" y="1600200"/>
            <a:ext cx="18288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FA74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›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774643" y="1600200"/>
            <a:ext cx="1594714" cy="1874520"/>
          </a:xfrm>
          <a:prstGeom prst="rect">
            <a:avLst/>
          </a:prstGeom>
          <a:solidFill>
            <a:srgbClr val="F8F9F8"/>
          </a:solidFill>
          <a:ln w="6350">
            <a:solidFill>
              <a:srgbClr val="D5D5D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920947" y="1746504"/>
            <a:ext cx="384048" cy="384048"/>
          </a:xfrm>
          <a:prstGeom prst="ellipse">
            <a:avLst/>
          </a:prstGeom>
          <a:solidFill>
            <a:srgbClr val="9FA742"/>
          </a:solidFill>
          <a:ln/>
        </p:spPr>
      </p:sp>
      <p:sp>
        <p:nvSpPr>
          <p:cNvPr id="23" name="Text 21"/>
          <p:cNvSpPr/>
          <p:nvPr/>
        </p:nvSpPr>
        <p:spPr>
          <a:xfrm>
            <a:off x="3920947" y="17465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3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920947" y="2203704"/>
            <a:ext cx="13203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3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Delivery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3920947" y="2514600"/>
            <a:ext cx="132039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59595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Build &amp; ship the work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3920947" y="3017520"/>
            <a:ext cx="132039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spc="100" kern="0" dirty="0">
                <a:solidFill>
                  <a:srgbClr val="9FA742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OWNER</a:t>
            </a:r>
            <a:endParaRPr lang="en-US" sz="600" dirty="0"/>
          </a:p>
        </p:txBody>
      </p:sp>
      <p:sp>
        <p:nvSpPr>
          <p:cNvPr id="27" name="Text 25"/>
          <p:cNvSpPr/>
          <p:nvPr/>
        </p:nvSpPr>
        <p:spPr>
          <a:xfrm>
            <a:off x="3920947" y="3163824"/>
            <a:ext cx="132039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56C1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Engineering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332781" y="1600200"/>
            <a:ext cx="18288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FA74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›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479085" y="1600200"/>
            <a:ext cx="1594714" cy="1874520"/>
          </a:xfrm>
          <a:prstGeom prst="rect">
            <a:avLst/>
          </a:prstGeom>
          <a:solidFill>
            <a:srgbClr val="F4F6F9"/>
          </a:solidFill>
          <a:ln w="6350">
            <a:solidFill>
              <a:srgbClr val="D5D5D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625389" y="1746504"/>
            <a:ext cx="384048" cy="384048"/>
          </a:xfrm>
          <a:prstGeom prst="ellipse">
            <a:avLst/>
          </a:prstGeom>
          <a:solidFill>
            <a:srgbClr val="9FA742"/>
          </a:solidFill>
          <a:ln/>
        </p:spPr>
      </p:sp>
      <p:sp>
        <p:nvSpPr>
          <p:cNvPr id="31" name="Text 29"/>
          <p:cNvSpPr/>
          <p:nvPr/>
        </p:nvSpPr>
        <p:spPr>
          <a:xfrm>
            <a:off x="5625389" y="17465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4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625389" y="2203704"/>
            <a:ext cx="13203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3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Invoice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5625389" y="2514600"/>
            <a:ext cx="132039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59595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Trigger the bill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5625389" y="3017520"/>
            <a:ext cx="132039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spc="100" kern="0" dirty="0">
                <a:solidFill>
                  <a:srgbClr val="9FA742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OWNER</a:t>
            </a:r>
            <a:endParaRPr lang="en-US" sz="600" dirty="0"/>
          </a:p>
        </p:txBody>
      </p:sp>
      <p:sp>
        <p:nvSpPr>
          <p:cNvPr id="35" name="Text 33"/>
          <p:cNvSpPr/>
          <p:nvPr/>
        </p:nvSpPr>
        <p:spPr>
          <a:xfrm>
            <a:off x="5625389" y="3163824"/>
            <a:ext cx="132039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56C1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Pre-Sales / Finance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7037222" y="1600200"/>
            <a:ext cx="18288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FA74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›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7183526" y="1600200"/>
            <a:ext cx="1594714" cy="1874520"/>
          </a:xfrm>
          <a:prstGeom prst="rect">
            <a:avLst/>
          </a:prstGeom>
          <a:solidFill>
            <a:srgbClr val="F8F9F8"/>
          </a:solidFill>
          <a:ln w="6350">
            <a:solidFill>
              <a:srgbClr val="D5D5D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29830" y="1746504"/>
            <a:ext cx="384048" cy="384048"/>
          </a:xfrm>
          <a:prstGeom prst="ellipse">
            <a:avLst/>
          </a:prstGeom>
          <a:solidFill>
            <a:srgbClr val="9FA742"/>
          </a:solidFill>
          <a:ln/>
        </p:spPr>
      </p:sp>
      <p:sp>
        <p:nvSpPr>
          <p:cNvPr id="39" name="Text 37"/>
          <p:cNvSpPr/>
          <p:nvPr/>
        </p:nvSpPr>
        <p:spPr>
          <a:xfrm>
            <a:off x="7329830" y="17465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5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7329830" y="2203704"/>
            <a:ext cx="13203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37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Cash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7329830" y="2514600"/>
            <a:ext cx="132039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59595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Collect the money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7329830" y="3017520"/>
            <a:ext cx="132039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spc="100" kern="0" dirty="0">
                <a:solidFill>
                  <a:srgbClr val="9FA742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OWNER</a:t>
            </a:r>
            <a:endParaRPr lang="en-US" sz="600" dirty="0"/>
          </a:p>
        </p:txBody>
      </p:sp>
      <p:sp>
        <p:nvSpPr>
          <p:cNvPr id="43" name="Text 41"/>
          <p:cNvSpPr/>
          <p:nvPr/>
        </p:nvSpPr>
        <p:spPr>
          <a:xfrm>
            <a:off x="7329830" y="3163824"/>
            <a:ext cx="132039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56C1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Sales / Finance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365760" y="3749040"/>
            <a:ext cx="8412480" cy="914400"/>
          </a:xfrm>
          <a:prstGeom prst="rect">
            <a:avLst/>
          </a:prstGeom>
          <a:solidFill>
            <a:srgbClr val="F8F9F8"/>
          </a:solidFill>
          <a:ln/>
        </p:spPr>
      </p:sp>
      <p:sp>
        <p:nvSpPr>
          <p:cNvPr id="45" name="Shape 43"/>
          <p:cNvSpPr/>
          <p:nvPr/>
        </p:nvSpPr>
        <p:spPr>
          <a:xfrm>
            <a:off x="365760" y="3749040"/>
            <a:ext cx="54864" cy="914400"/>
          </a:xfrm>
          <a:prstGeom prst="rect">
            <a:avLst/>
          </a:prstGeom>
          <a:solidFill>
            <a:srgbClr val="9FA742"/>
          </a:solidFill>
          <a:ln/>
        </p:spPr>
      </p:sp>
      <p:sp>
        <p:nvSpPr>
          <p:cNvPr id="46" name="Text 44"/>
          <p:cNvSpPr/>
          <p:nvPr/>
        </p:nvSpPr>
        <p:spPr>
          <a:xfrm>
            <a:off x="594360" y="3895344"/>
            <a:ext cx="7955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56C18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THE COMPANY REVENUE NUMBER</a:t>
            </a:r>
            <a:pPr indent="0" marL="0">
              <a:buNone/>
            </a:pPr>
            <a:r>
              <a:rPr lang="en-US" sz="1300" dirty="0">
                <a:solidFill>
                  <a:srgbClr val="5B667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 —   the first line of every leadership report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594360" y="4251960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Daily team stand-ups feed the management report. Every layer leads with revenue — booked, gated, invoiced, collected.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365760" y="486460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A8B563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©2026 Nexus Frontier Tech  |  Confidential</a:t>
            </a:r>
            <a:endParaRPr lang="en-US" sz="600" dirty="0"/>
          </a:p>
        </p:txBody>
      </p:sp>
      <p:sp>
        <p:nvSpPr>
          <p:cNvPr id="49" name="Text 47"/>
          <p:cNvSpPr/>
          <p:nvPr/>
        </p:nvSpPr>
        <p:spPr>
          <a:xfrm>
            <a:off x="4206240" y="486460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A8B563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www.nexusfrontier.tech  ·  www.onenexus.ai</a:t>
            </a:r>
            <a:endParaRPr lang="en-US" sz="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2004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200" kern="0" dirty="0">
                <a:solidFill>
                  <a:srgbClr val="C2CF24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THE STAND-UP FRAME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65760" y="603504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656C18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Every stand-up opens the same way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365760" y="10972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56C1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Four questions, in order. The number always comes first — gut feel and status updates come last (if at all).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554480"/>
            <a:ext cx="4069080" cy="1207008"/>
          </a:xfrm>
          <a:prstGeom prst="rect">
            <a:avLst/>
          </a:prstGeom>
          <a:solidFill>
            <a:srgbClr val="F8F9F8"/>
          </a:solidFill>
          <a:ln w="6350">
            <a:solidFill>
              <a:srgbClr val="D5D5D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755648"/>
            <a:ext cx="566928" cy="566928"/>
          </a:xfrm>
          <a:prstGeom prst="ellipse">
            <a:avLst/>
          </a:prstGeom>
          <a:solidFill>
            <a:srgbClr val="9FA742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7556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280160" y="173736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37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THE NUMBER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280160" y="2048256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9595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Where are we against today's target? Booked, gated, invoiced or collected — state the figure first.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709160" y="1554480"/>
            <a:ext cx="4069080" cy="1207008"/>
          </a:xfrm>
          <a:prstGeom prst="rect">
            <a:avLst/>
          </a:prstGeom>
          <a:solidFill>
            <a:srgbClr val="F8F9F8"/>
          </a:solidFill>
          <a:ln w="6350">
            <a:solidFill>
              <a:srgbClr val="D5D5D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92040" y="1755648"/>
            <a:ext cx="566928" cy="566928"/>
          </a:xfrm>
          <a:prstGeom prst="ellipse">
            <a:avLst/>
          </a:prstGeom>
          <a:solidFill>
            <a:srgbClr val="9FA742"/>
          </a:solidFill>
          <a:ln/>
        </p:spPr>
      </p:sp>
      <p:sp>
        <p:nvSpPr>
          <p:cNvPr id="12" name="Text 10"/>
          <p:cNvSpPr/>
          <p:nvPr/>
        </p:nvSpPr>
        <p:spPr>
          <a:xfrm>
            <a:off x="4892040" y="17556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623560" y="173736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37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THE GAP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623560" y="2048256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9595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What stands between us and the next dollar? Name the specific deal, deliverable or invoice.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65760" y="2926080"/>
            <a:ext cx="4069080" cy="1207008"/>
          </a:xfrm>
          <a:prstGeom prst="rect">
            <a:avLst/>
          </a:prstGeom>
          <a:solidFill>
            <a:srgbClr val="F8F9F8"/>
          </a:solidFill>
          <a:ln w="6350">
            <a:solidFill>
              <a:srgbClr val="D5D5D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3127248"/>
            <a:ext cx="566928" cy="566928"/>
          </a:xfrm>
          <a:prstGeom prst="ellipse">
            <a:avLst/>
          </a:prstGeom>
          <a:solidFill>
            <a:srgbClr val="9FA742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1272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280160" y="310896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37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THE MOVE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280160" y="3419856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9595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What single action closes the gap? One owner. One deadline. No verbs without a name attached.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709160" y="2926080"/>
            <a:ext cx="4069080" cy="1207008"/>
          </a:xfrm>
          <a:prstGeom prst="rect">
            <a:avLst/>
          </a:prstGeom>
          <a:solidFill>
            <a:srgbClr val="F8F9F8"/>
          </a:solidFill>
          <a:ln w="6350">
            <a:solidFill>
              <a:srgbClr val="D5D5D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92040" y="3127248"/>
            <a:ext cx="566928" cy="566928"/>
          </a:xfrm>
          <a:prstGeom prst="ellipse">
            <a:avLst/>
          </a:prstGeom>
          <a:solidFill>
            <a:srgbClr val="9FA742"/>
          </a:solidFill>
          <a:ln/>
        </p:spPr>
      </p:sp>
      <p:sp>
        <p:nvSpPr>
          <p:cNvPr id="22" name="Text 20"/>
          <p:cNvSpPr/>
          <p:nvPr/>
        </p:nvSpPr>
        <p:spPr>
          <a:xfrm>
            <a:off x="4892040" y="31272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623560" y="310896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37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THE BLOCKER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623560" y="3419856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9595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What's in the way, and who removes it today? Escalate now — not at the next weekly.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65760" y="45262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56C18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Rule of thumb:  </a:t>
            </a:r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if the first sentence isn't a number, the stand-up hasn't started.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65760" y="486460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A8B563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©2026 Nexus Frontier Tech  |  Confidential</a:t>
            </a:r>
            <a:endParaRPr lang="en-US" sz="600" dirty="0"/>
          </a:p>
        </p:txBody>
      </p:sp>
      <p:sp>
        <p:nvSpPr>
          <p:cNvPr id="27" name="Text 25"/>
          <p:cNvSpPr/>
          <p:nvPr/>
        </p:nvSpPr>
        <p:spPr>
          <a:xfrm>
            <a:off x="4206240" y="486460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A8B563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www.nexusfrontier.tech  ·  www.onenexus.ai</a:t>
            </a:r>
            <a:endParaRPr lang="en-US" sz="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9260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200" kern="0" dirty="0">
                <a:solidFill>
                  <a:srgbClr val="C2CF24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STAND-UP TEMPLATE  ·  SALES &amp; BD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65760" y="54864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656C18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Sales &amp; BD — stand-up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365760" y="96926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56C1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Lead with booked revenue. Replace the grey examples with today's figures. Duplicate this slide each day.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8412480" cy="256032"/>
          </a:xfrm>
          <a:prstGeom prst="rect">
            <a:avLst/>
          </a:prstGeom>
          <a:solidFill>
            <a:srgbClr val="9FA742"/>
          </a:solidFill>
          <a:ln/>
        </p:spPr>
      </p:sp>
      <p:sp>
        <p:nvSpPr>
          <p:cNvPr id="6" name="Text 4"/>
          <p:cNvSpPr/>
          <p:nvPr/>
        </p:nvSpPr>
        <p:spPr>
          <a:xfrm>
            <a:off x="475488" y="13716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1.  THE NUMBER  —  booked revenue today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1664208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2A37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Revenue booked MTD vs target    </a:t>
            </a:r>
            <a:pPr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e.g.  $420K / $600K   ·   70% to plan   ·   +$85K week-on-week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65760" y="1993392"/>
            <a:ext cx="8412480" cy="256032"/>
          </a:xfrm>
          <a:prstGeom prst="rect">
            <a:avLst/>
          </a:prstGeom>
          <a:solidFill>
            <a:srgbClr val="9FA742"/>
          </a:solidFill>
          <a:ln/>
        </p:spPr>
      </p:sp>
      <p:sp>
        <p:nvSpPr>
          <p:cNvPr id="9" name="Text 7"/>
          <p:cNvSpPr/>
          <p:nvPr/>
        </p:nvSpPr>
        <p:spPr>
          <a:xfrm>
            <a:off x="475488" y="19933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2.  CLOSING THIS WEEK  —  what's needed to close each deal</a:t>
            </a:r>
            <a:endParaRPr lang="en-US" sz="9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286000"/>
          <a:ext cx="8412480" cy="914400"/>
        </p:xfrm>
        <a:graphic>
          <a:graphicData uri="http://schemas.openxmlformats.org/drawingml/2006/table">
            <a:tbl>
              <a:tblPr/>
              <a:tblGrid>
                <a:gridCol w="2331720"/>
                <a:gridCol w="777240"/>
                <a:gridCol w="640080"/>
                <a:gridCol w="914400"/>
                <a:gridCol w="2286000"/>
                <a:gridCol w="1463040"/>
              </a:tblGrid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5B6675"/>
                          </a:solidFill>
                          <a:latin typeface="Source Sans Pro" pitchFamily="34" charset="0"/>
                          <a:ea typeface="Source Sans Pro" pitchFamily="34" charset="-122"/>
                          <a:cs typeface="Source Sans Pro" pitchFamily="34" charset="-120"/>
                        </a:rPr>
                        <a:t>Deal</a:t>
                      </a:r>
                      <a:endParaRPr lang="en-US" sz="800" dirty="0">
                        <a:latin typeface="Source Sans Pro" charset="0"/>
                        <a:ea typeface="Source Sans Pro" charset="0"/>
                        <a:cs typeface="Source Sans Pro" charset="0"/>
                      </a:endParaRPr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5B6675"/>
                          </a:solidFill>
                          <a:latin typeface="Source Sans Pro" pitchFamily="34" charset="0"/>
                          <a:ea typeface="Source Sans Pro" pitchFamily="34" charset="-122"/>
                          <a:cs typeface="Source Sans Pro" pitchFamily="34" charset="-120"/>
                        </a:rPr>
                        <a:t>Value</a:t>
                      </a:r>
                      <a:endParaRPr lang="en-US" sz="800" dirty="0">
                        <a:latin typeface="Source Sans Pro" charset="0"/>
                        <a:ea typeface="Source Sans Pro" charset="0"/>
                        <a:cs typeface="Source Sans Pro" charset="0"/>
                      </a:endParaRPr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5B6675"/>
                          </a:solidFill>
                          <a:latin typeface="Source Sans Pro" pitchFamily="34" charset="0"/>
                          <a:ea typeface="Source Sans Pro" pitchFamily="34" charset="-122"/>
                          <a:cs typeface="Source Sans Pro" pitchFamily="34" charset="-120"/>
                        </a:rPr>
                        <a:t>Prob</a:t>
                      </a:r>
                      <a:endParaRPr lang="en-US" sz="800" dirty="0">
                        <a:latin typeface="Source Sans Pro" charset="0"/>
                        <a:ea typeface="Source Sans Pro" charset="0"/>
                        <a:cs typeface="Source Sans Pro" charset="0"/>
                      </a:endParaRPr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5B6675"/>
                          </a:solidFill>
                          <a:latin typeface="Source Sans Pro" pitchFamily="34" charset="0"/>
                          <a:ea typeface="Source Sans Pro" pitchFamily="34" charset="-122"/>
                          <a:cs typeface="Source Sans Pro" pitchFamily="34" charset="-120"/>
                        </a:rPr>
                        <a:t>Close by</a:t>
                      </a:r>
                      <a:endParaRPr lang="en-US" sz="800" dirty="0">
                        <a:latin typeface="Source Sans Pro" charset="0"/>
                        <a:ea typeface="Source Sans Pro" charset="0"/>
                        <a:cs typeface="Source Sans Pro" charset="0"/>
                      </a:endParaRPr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5B6675"/>
                          </a:solidFill>
                          <a:latin typeface="Source Sans Pro" pitchFamily="34" charset="0"/>
                          <a:ea typeface="Source Sans Pro" pitchFamily="34" charset="-122"/>
                          <a:cs typeface="Source Sans Pro" pitchFamily="34" charset="-120"/>
                        </a:rPr>
                        <a:t>What's needed</a:t>
                      </a:r>
                      <a:endParaRPr lang="en-US" sz="800" dirty="0">
                        <a:latin typeface="Source Sans Pro" charset="0"/>
                        <a:ea typeface="Source Sans Pro" charset="0"/>
                        <a:cs typeface="Source Sans Pro" charset="0"/>
                      </a:endParaRPr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5B6675"/>
                          </a:solidFill>
                          <a:latin typeface="Source Sans Pro" pitchFamily="34" charset="0"/>
                          <a:ea typeface="Source Sans Pro" pitchFamily="34" charset="-122"/>
                          <a:cs typeface="Source Sans Pro" pitchFamily="34" charset="-120"/>
                        </a:rPr>
                        <a:t>Owner · when</a:t>
                      </a:r>
                      <a:endParaRPr lang="en-US" sz="800" dirty="0">
                        <a:latin typeface="Source Sans Pro" charset="0"/>
                        <a:ea typeface="Source Sans Pro" charset="0"/>
                        <a:cs typeface="Source Sans Pro" charset="0"/>
                      </a:endParaRPr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9AA3AE"/>
                          </a:solidFill>
                          <a:latin typeface="Source Sans Pro" pitchFamily="34" charset="0"/>
                          <a:ea typeface="Source Sans Pro" pitchFamily="34" charset="-122"/>
                          <a:cs typeface="Source Sans Pro" pitchFamily="34" charset="-120"/>
                        </a:rPr>
                        <a:t>e.g.  HSBC — Doc-AI expansion</a:t>
                      </a:r>
                      <a:endParaRPr lang="en-US" sz="800" dirty="0">
                        <a:latin typeface="Source Sans Pro" charset="0"/>
                        <a:ea typeface="Source Sans Pro" charset="0"/>
                        <a:cs typeface="Source Sans Pro" charset="0"/>
                      </a:endParaRPr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9AA3AE"/>
                          </a:solidFill>
                          <a:latin typeface="Source Sans Pro" pitchFamily="34" charset="0"/>
                          <a:ea typeface="Source Sans Pro" pitchFamily="34" charset="-122"/>
                          <a:cs typeface="Source Sans Pro" pitchFamily="34" charset="-120"/>
                        </a:rPr>
                        <a:t>$180K</a:t>
                      </a:r>
                      <a:endParaRPr lang="en-US" sz="800" dirty="0">
                        <a:latin typeface="Source Sans Pro" charset="0"/>
                        <a:ea typeface="Source Sans Pro" charset="0"/>
                        <a:cs typeface="Source Sans Pro" charset="0"/>
                      </a:endParaRPr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9AA3AE"/>
                          </a:solidFill>
                          <a:latin typeface="Source Sans Pro" pitchFamily="34" charset="0"/>
                          <a:ea typeface="Source Sans Pro" pitchFamily="34" charset="-122"/>
                          <a:cs typeface="Source Sans Pro" pitchFamily="34" charset="-120"/>
                        </a:rPr>
                        <a:t>80%</a:t>
                      </a:r>
                      <a:endParaRPr lang="en-US" sz="800" dirty="0">
                        <a:latin typeface="Source Sans Pro" charset="0"/>
                        <a:ea typeface="Source Sans Pro" charset="0"/>
                        <a:cs typeface="Source Sans Pro" charset="0"/>
                      </a:endParaRPr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9AA3AE"/>
                          </a:solidFill>
                          <a:latin typeface="Source Sans Pro" pitchFamily="34" charset="0"/>
                          <a:ea typeface="Source Sans Pro" pitchFamily="34" charset="-122"/>
                          <a:cs typeface="Source Sans Pro" pitchFamily="34" charset="-120"/>
                        </a:rPr>
                        <a:t>Fri</a:t>
                      </a:r>
                      <a:endParaRPr lang="en-US" sz="800" dirty="0">
                        <a:latin typeface="Source Sans Pro" charset="0"/>
                        <a:ea typeface="Source Sans Pro" charset="0"/>
                        <a:cs typeface="Source Sans Pro" charset="0"/>
                      </a:endParaRPr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9AA3AE"/>
                          </a:solidFill>
                          <a:latin typeface="Source Sans Pro" pitchFamily="34" charset="0"/>
                          <a:ea typeface="Source Sans Pro" pitchFamily="34" charset="-122"/>
                          <a:cs typeface="Source Sans Pro" pitchFamily="34" charset="-120"/>
                        </a:rPr>
                        <a:t>Final SOW sign-off</a:t>
                      </a:r>
                      <a:endParaRPr lang="en-US" sz="800" dirty="0">
                        <a:latin typeface="Source Sans Pro" charset="0"/>
                        <a:ea typeface="Source Sans Pro" charset="0"/>
                        <a:cs typeface="Source Sans Pro" charset="0"/>
                      </a:endParaRPr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9AA3AE"/>
                          </a:solidFill>
                          <a:latin typeface="Source Sans Pro" pitchFamily="34" charset="0"/>
                          <a:ea typeface="Source Sans Pro" pitchFamily="34" charset="-122"/>
                          <a:cs typeface="Source Sans Pro" pitchFamily="34" charset="-120"/>
                        </a:rPr>
                        <a:t>Bill → today</a:t>
                      </a:r>
                      <a:endParaRPr lang="en-US" sz="800" dirty="0">
                        <a:latin typeface="Source Sans Pro" charset="0"/>
                        <a:ea typeface="Source Sans Pro" charset="0"/>
                        <a:cs typeface="Source Sans Pro" charset="0"/>
                      </a:endParaRPr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9AA3AE"/>
                          </a:solidFill>
                          <a:latin typeface="Source Sans Pro" pitchFamily="34" charset="0"/>
                          <a:ea typeface="Source Sans Pro" pitchFamily="34" charset="-122"/>
                          <a:cs typeface="Source Sans Pro" pitchFamily="34" charset="-120"/>
                        </a:rPr>
                        <a:t>e.g.  MUFG — pilot → production</a:t>
                      </a:r>
                      <a:endParaRPr lang="en-US" sz="800" dirty="0">
                        <a:latin typeface="Source Sans Pro" charset="0"/>
                        <a:ea typeface="Source Sans Pro" charset="0"/>
                        <a:cs typeface="Source Sans Pro" charset="0"/>
                      </a:endParaRPr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9AA3AE"/>
                          </a:solidFill>
                          <a:latin typeface="Source Sans Pro" pitchFamily="34" charset="0"/>
                          <a:ea typeface="Source Sans Pro" pitchFamily="34" charset="-122"/>
                          <a:cs typeface="Source Sans Pro" pitchFamily="34" charset="-120"/>
                        </a:rPr>
                        <a:t>$250K</a:t>
                      </a:r>
                      <a:endParaRPr lang="en-US" sz="800" dirty="0">
                        <a:latin typeface="Source Sans Pro" charset="0"/>
                        <a:ea typeface="Source Sans Pro" charset="0"/>
                        <a:cs typeface="Source Sans Pro" charset="0"/>
                      </a:endParaRPr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9AA3AE"/>
                          </a:solidFill>
                          <a:latin typeface="Source Sans Pro" pitchFamily="34" charset="0"/>
                          <a:ea typeface="Source Sans Pro" pitchFamily="34" charset="-122"/>
                          <a:cs typeface="Source Sans Pro" pitchFamily="34" charset="-120"/>
                        </a:rPr>
                        <a:t>50%</a:t>
                      </a:r>
                      <a:endParaRPr lang="en-US" sz="800" dirty="0">
                        <a:latin typeface="Source Sans Pro" charset="0"/>
                        <a:ea typeface="Source Sans Pro" charset="0"/>
                        <a:cs typeface="Source Sans Pro" charset="0"/>
                      </a:endParaRPr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9AA3AE"/>
                          </a:solidFill>
                          <a:latin typeface="Source Sans Pro" pitchFamily="34" charset="0"/>
                          <a:ea typeface="Source Sans Pro" pitchFamily="34" charset="-122"/>
                          <a:cs typeface="Source Sans Pro" pitchFamily="34" charset="-120"/>
                        </a:rPr>
                        <a:t>Wed</a:t>
                      </a:r>
                      <a:endParaRPr lang="en-US" sz="800" dirty="0">
                        <a:latin typeface="Source Sans Pro" charset="0"/>
                        <a:ea typeface="Source Sans Pro" charset="0"/>
                        <a:cs typeface="Source Sans Pro" charset="0"/>
                      </a:endParaRPr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9AA3AE"/>
                          </a:solidFill>
                          <a:latin typeface="Source Sans Pro" pitchFamily="34" charset="0"/>
                          <a:ea typeface="Source Sans Pro" pitchFamily="34" charset="-122"/>
                          <a:cs typeface="Source Sans Pro" pitchFamily="34" charset="-120"/>
                        </a:rPr>
                        <a:t>Security review pack</a:t>
                      </a:r>
                      <a:endParaRPr lang="en-US" sz="800" dirty="0">
                        <a:latin typeface="Source Sans Pro" charset="0"/>
                        <a:ea typeface="Source Sans Pro" charset="0"/>
                        <a:cs typeface="Source Sans Pro" charset="0"/>
                      </a:endParaRPr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9AA3AE"/>
                          </a:solidFill>
                          <a:latin typeface="Source Sans Pro" pitchFamily="34" charset="0"/>
                          <a:ea typeface="Source Sans Pro" pitchFamily="34" charset="-122"/>
                          <a:cs typeface="Source Sans Pro" pitchFamily="34" charset="-120"/>
                        </a:rPr>
                        <a:t>Max → Tue</a:t>
                      </a:r>
                      <a:endParaRPr lang="en-US" sz="800" dirty="0">
                        <a:latin typeface="Source Sans Pro" charset="0"/>
                        <a:ea typeface="Source Sans Pro" charset="0"/>
                        <a:cs typeface="Source Sans Pro" charset="0"/>
                      </a:endParaRPr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9AA3AE"/>
                          </a:solidFill>
                          <a:latin typeface="Source Sans Pro" pitchFamily="34" charset="0"/>
                          <a:ea typeface="Source Sans Pro" pitchFamily="34" charset="-122"/>
                          <a:cs typeface="Source Sans Pro" pitchFamily="34" charset="-120"/>
                        </a:rPr>
                        <a:t>e.g.  Schroders — NEW LOGO</a:t>
                      </a:r>
                      <a:endParaRPr lang="en-US" sz="800" dirty="0">
                        <a:latin typeface="Source Sans Pro" charset="0"/>
                        <a:ea typeface="Source Sans Pro" charset="0"/>
                        <a:cs typeface="Source Sans Pro" charset="0"/>
                      </a:endParaRPr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9AA3AE"/>
                          </a:solidFill>
                          <a:latin typeface="Source Sans Pro" pitchFamily="34" charset="0"/>
                          <a:ea typeface="Source Sans Pro" pitchFamily="34" charset="-122"/>
                          <a:cs typeface="Source Sans Pro" pitchFamily="34" charset="-120"/>
                        </a:rPr>
                        <a:t>$90K</a:t>
                      </a:r>
                      <a:endParaRPr lang="en-US" sz="800" dirty="0">
                        <a:latin typeface="Source Sans Pro" charset="0"/>
                        <a:ea typeface="Source Sans Pro" charset="0"/>
                        <a:cs typeface="Source Sans Pro" charset="0"/>
                      </a:endParaRPr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9AA3AE"/>
                          </a:solidFill>
                          <a:latin typeface="Source Sans Pro" pitchFamily="34" charset="0"/>
                          <a:ea typeface="Source Sans Pro" pitchFamily="34" charset="-122"/>
                          <a:cs typeface="Source Sans Pro" pitchFamily="34" charset="-120"/>
                        </a:rPr>
                        <a:t>30%</a:t>
                      </a:r>
                      <a:endParaRPr lang="en-US" sz="800" dirty="0">
                        <a:latin typeface="Source Sans Pro" charset="0"/>
                        <a:ea typeface="Source Sans Pro" charset="0"/>
                        <a:cs typeface="Source Sans Pro" charset="0"/>
                      </a:endParaRPr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9AA3AE"/>
                          </a:solidFill>
                          <a:latin typeface="Source Sans Pro" pitchFamily="34" charset="0"/>
                          <a:ea typeface="Source Sans Pro" pitchFamily="34" charset="-122"/>
                          <a:cs typeface="Source Sans Pro" pitchFamily="34" charset="-120"/>
                        </a:rPr>
                        <a:t>Month-end</a:t>
                      </a:r>
                      <a:endParaRPr lang="en-US" sz="800" dirty="0">
                        <a:latin typeface="Source Sans Pro" charset="0"/>
                        <a:ea typeface="Source Sans Pro" charset="0"/>
                        <a:cs typeface="Source Sans Pro" charset="0"/>
                      </a:endParaRPr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9AA3AE"/>
                          </a:solidFill>
                          <a:latin typeface="Source Sans Pro" pitchFamily="34" charset="0"/>
                          <a:ea typeface="Source Sans Pro" pitchFamily="34" charset="-122"/>
                          <a:cs typeface="Source Sans Pro" pitchFamily="34" charset="-120"/>
                        </a:rPr>
                        <a:t>Exec-sponsor intro</a:t>
                      </a:r>
                      <a:endParaRPr lang="en-US" sz="800" dirty="0">
                        <a:latin typeface="Source Sans Pro" charset="0"/>
                        <a:ea typeface="Source Sans Pro" charset="0"/>
                        <a:cs typeface="Source Sans Pro" charset="0"/>
                      </a:endParaRPr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9AA3AE"/>
                          </a:solidFill>
                          <a:latin typeface="Source Sans Pro" pitchFamily="34" charset="0"/>
                          <a:ea typeface="Source Sans Pro" pitchFamily="34" charset="-122"/>
                          <a:cs typeface="Source Sans Pro" pitchFamily="34" charset="-120"/>
                        </a:rPr>
                        <a:t>Danny → Thu</a:t>
                      </a:r>
                      <a:endParaRPr lang="en-US" sz="800" dirty="0">
                        <a:latin typeface="Source Sans Pro" charset="0"/>
                        <a:ea typeface="Source Sans Pro" charset="0"/>
                        <a:cs typeface="Source Sans Pro" charset="0"/>
                      </a:endParaRPr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365760" y="3749040"/>
            <a:ext cx="4114800" cy="256032"/>
          </a:xfrm>
          <a:prstGeom prst="rect">
            <a:avLst/>
          </a:prstGeom>
          <a:solidFill>
            <a:srgbClr val="74792E"/>
          </a:solidFill>
          <a:ln/>
        </p:spPr>
      </p:sp>
      <p:sp>
        <p:nvSpPr>
          <p:cNvPr id="12" name="Text 9"/>
          <p:cNvSpPr/>
          <p:nvPr/>
        </p:nvSpPr>
        <p:spPr>
          <a:xfrm>
            <a:off x="475488" y="374904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3.  PIPELINE ADDED  —  net-new only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365760" y="404164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9AA3AE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e.g.  2 new logos   ·   $310K added   ·   all outside the existing key-account network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4663440" y="3749040"/>
            <a:ext cx="4114800" cy="256032"/>
          </a:xfrm>
          <a:prstGeom prst="rect">
            <a:avLst/>
          </a:prstGeom>
          <a:solidFill>
            <a:srgbClr val="74792E"/>
          </a:solidFill>
          <a:ln/>
        </p:spPr>
      </p:sp>
      <p:sp>
        <p:nvSpPr>
          <p:cNvPr id="15" name="Text 12"/>
          <p:cNvSpPr/>
          <p:nvPr/>
        </p:nvSpPr>
        <p:spPr>
          <a:xfrm>
            <a:off x="4773168" y="374904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4.  BLOCKERS / ASKS  —  who removes it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4663440" y="404164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9AA3AE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e.g.  MUFG security questionnaire stalled — need 1 hr with CTO today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365760" y="486460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A8B563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©2026 Nexus Frontier Tech  |  Confidential</a:t>
            </a:r>
            <a:endParaRPr lang="en-US" sz="600" dirty="0"/>
          </a:p>
        </p:txBody>
      </p:sp>
      <p:sp>
        <p:nvSpPr>
          <p:cNvPr id="18" name="Text 15"/>
          <p:cNvSpPr/>
          <p:nvPr/>
        </p:nvSpPr>
        <p:spPr>
          <a:xfrm>
            <a:off x="4206240" y="486460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A8B563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www.nexusfrontier.tech  ·  www.onenexus.ai</a:t>
            </a:r>
            <a:endParaRPr lang="en-US" sz="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9260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200" kern="0" dirty="0">
                <a:solidFill>
                  <a:srgbClr val="C2CF24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STAND-UP TEMPLATE  ·  PRODUCTION &amp; DELIVERY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65760" y="54864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656C18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Delivery &amp; Engineering — stand-up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365760" y="96926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56C1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Lead with the revenue you're holding. Every deliverable maps to an invoice. Flag what slips the bill.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8412480" cy="256032"/>
          </a:xfrm>
          <a:prstGeom prst="rect">
            <a:avLst/>
          </a:prstGeom>
          <a:solidFill>
            <a:srgbClr val="9FA742"/>
          </a:solidFill>
          <a:ln/>
        </p:spPr>
      </p:sp>
      <p:sp>
        <p:nvSpPr>
          <p:cNvPr id="6" name="Text 4"/>
          <p:cNvSpPr/>
          <p:nvPr/>
        </p:nvSpPr>
        <p:spPr>
          <a:xfrm>
            <a:off x="475488" y="13716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1.  THE NUMBER  —  revenue waiting on us to deliver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1664208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2A37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Revenue gated on delivery (month)    </a:t>
            </a:r>
            <a:pPr indent="0" marL="0">
              <a:buNone/>
            </a:pPr>
            <a:r>
              <a:rPr lang="en-US" sz="900" dirty="0">
                <a:solidFill>
                  <a:srgbClr val="9AA3AE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e.g.  $340K across 3 milestones   ·   $0 of it invoiced yet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65760" y="1993392"/>
            <a:ext cx="8412480" cy="256032"/>
          </a:xfrm>
          <a:prstGeom prst="rect">
            <a:avLst/>
          </a:prstGeom>
          <a:solidFill>
            <a:srgbClr val="9FA742"/>
          </a:solidFill>
          <a:ln/>
        </p:spPr>
      </p:sp>
      <p:sp>
        <p:nvSpPr>
          <p:cNvPr id="9" name="Text 7"/>
          <p:cNvSpPr/>
          <p:nvPr/>
        </p:nvSpPr>
        <p:spPr>
          <a:xfrm>
            <a:off x="475488" y="19933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2.  INVOICE TRIGGERS  —  what we must ship to bill</a:t>
            </a:r>
            <a:endParaRPr lang="en-US" sz="9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286000"/>
          <a:ext cx="841248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1280160"/>
                <a:gridCol w="1005840"/>
                <a:gridCol w="731520"/>
                <a:gridCol w="1371600"/>
                <a:gridCol w="1371600"/>
              </a:tblGrid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5B6675"/>
                          </a:solidFill>
                          <a:latin typeface="Source Sans Pro" pitchFamily="34" charset="0"/>
                          <a:ea typeface="Source Sans Pro" pitchFamily="34" charset="-122"/>
                          <a:cs typeface="Source Sans Pro" pitchFamily="34" charset="-120"/>
                        </a:rPr>
                        <a:t>Deliverable</a:t>
                      </a:r>
                      <a:endParaRPr lang="en-US" sz="800" dirty="0">
                        <a:latin typeface="Source Sans Pro" charset="0"/>
                        <a:ea typeface="Source Sans Pro" charset="0"/>
                        <a:cs typeface="Source Sans Pro" charset="0"/>
                      </a:endParaRPr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5B6675"/>
                          </a:solidFill>
                          <a:latin typeface="Source Sans Pro" pitchFamily="34" charset="0"/>
                          <a:ea typeface="Source Sans Pro" pitchFamily="34" charset="-122"/>
                          <a:cs typeface="Source Sans Pro" pitchFamily="34" charset="-120"/>
                        </a:rPr>
                        <a:t>Client</a:t>
                      </a:r>
                      <a:endParaRPr lang="en-US" sz="800" dirty="0">
                        <a:latin typeface="Source Sans Pro" charset="0"/>
                        <a:ea typeface="Source Sans Pro" charset="0"/>
                        <a:cs typeface="Source Sans Pro" charset="0"/>
                      </a:endParaRPr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5B6675"/>
                          </a:solidFill>
                          <a:latin typeface="Source Sans Pro" pitchFamily="34" charset="0"/>
                          <a:ea typeface="Source Sans Pro" pitchFamily="34" charset="-122"/>
                          <a:cs typeface="Source Sans Pro" pitchFamily="34" charset="-120"/>
                        </a:rPr>
                        <a:t>Invoice $</a:t>
                      </a:r>
                      <a:endParaRPr lang="en-US" sz="800" dirty="0">
                        <a:latin typeface="Source Sans Pro" charset="0"/>
                        <a:ea typeface="Source Sans Pro" charset="0"/>
                        <a:cs typeface="Source Sans Pro" charset="0"/>
                      </a:endParaRPr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5B6675"/>
                          </a:solidFill>
                          <a:latin typeface="Source Sans Pro" pitchFamily="34" charset="0"/>
                          <a:ea typeface="Source Sans Pro" pitchFamily="34" charset="-122"/>
                          <a:cs typeface="Source Sans Pro" pitchFamily="34" charset="-120"/>
                        </a:rPr>
                        <a:t>Due</a:t>
                      </a:r>
                      <a:endParaRPr lang="en-US" sz="800" dirty="0">
                        <a:latin typeface="Source Sans Pro" charset="0"/>
                        <a:ea typeface="Source Sans Pro" charset="0"/>
                        <a:cs typeface="Source Sans Pro" charset="0"/>
                      </a:endParaRPr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5B6675"/>
                          </a:solidFill>
                          <a:latin typeface="Source Sans Pro" pitchFamily="34" charset="0"/>
                          <a:ea typeface="Source Sans Pro" pitchFamily="34" charset="-122"/>
                          <a:cs typeface="Source Sans Pro" pitchFamily="34" charset="-120"/>
                        </a:rPr>
                        <a:t>Status</a:t>
                      </a:r>
                      <a:endParaRPr lang="en-US" sz="800" dirty="0">
                        <a:latin typeface="Source Sans Pro" charset="0"/>
                        <a:ea typeface="Source Sans Pro" charset="0"/>
                        <a:cs typeface="Source Sans Pro" charset="0"/>
                      </a:endParaRPr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5B6675"/>
                          </a:solidFill>
                          <a:latin typeface="Source Sans Pro" pitchFamily="34" charset="0"/>
                          <a:ea typeface="Source Sans Pro" pitchFamily="34" charset="-122"/>
                          <a:cs typeface="Source Sans Pro" pitchFamily="34" charset="-120"/>
                        </a:rPr>
                        <a:t>Owner</a:t>
                      </a:r>
                      <a:endParaRPr lang="en-US" sz="800" dirty="0">
                        <a:latin typeface="Source Sans Pro" charset="0"/>
                        <a:ea typeface="Source Sans Pro" charset="0"/>
                        <a:cs typeface="Source Sans Pro" charset="0"/>
                      </a:endParaRPr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9AA3AE"/>
                          </a:solidFill>
                          <a:latin typeface="Source Sans Pro" pitchFamily="34" charset="0"/>
                          <a:ea typeface="Source Sans Pro" pitchFamily="34" charset="-122"/>
                          <a:cs typeface="Source Sans Pro" pitchFamily="34" charset="-120"/>
                        </a:rPr>
                        <a:t>e.g.  Phase-2 model handoff</a:t>
                      </a:r>
                      <a:endParaRPr lang="en-US" sz="800" dirty="0">
                        <a:latin typeface="Source Sans Pro" charset="0"/>
                        <a:ea typeface="Source Sans Pro" charset="0"/>
                        <a:cs typeface="Source Sans Pro" charset="0"/>
                      </a:endParaRPr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9AA3AE"/>
                          </a:solidFill>
                          <a:latin typeface="Source Sans Pro" pitchFamily="34" charset="0"/>
                          <a:ea typeface="Source Sans Pro" pitchFamily="34" charset="-122"/>
                          <a:cs typeface="Source Sans Pro" pitchFamily="34" charset="-120"/>
                        </a:rPr>
                        <a:t>HSBC</a:t>
                      </a:r>
                      <a:endParaRPr lang="en-US" sz="800" dirty="0">
                        <a:latin typeface="Source Sans Pro" charset="0"/>
                        <a:ea typeface="Source Sans Pro" charset="0"/>
                        <a:cs typeface="Source Sans Pro" charset="0"/>
                      </a:endParaRPr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9AA3AE"/>
                          </a:solidFill>
                          <a:latin typeface="Source Sans Pro" pitchFamily="34" charset="0"/>
                          <a:ea typeface="Source Sans Pro" pitchFamily="34" charset="-122"/>
                          <a:cs typeface="Source Sans Pro" pitchFamily="34" charset="-120"/>
                        </a:rPr>
                        <a:t>$120K</a:t>
                      </a:r>
                      <a:endParaRPr lang="en-US" sz="800" dirty="0">
                        <a:latin typeface="Source Sans Pro" charset="0"/>
                        <a:ea typeface="Source Sans Pro" charset="0"/>
                        <a:cs typeface="Source Sans Pro" charset="0"/>
                      </a:endParaRPr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9AA3AE"/>
                          </a:solidFill>
                          <a:latin typeface="Source Sans Pro" pitchFamily="34" charset="0"/>
                          <a:ea typeface="Source Sans Pro" pitchFamily="34" charset="-122"/>
                          <a:cs typeface="Source Sans Pro" pitchFamily="34" charset="-120"/>
                        </a:rPr>
                        <a:t>Fri</a:t>
                      </a:r>
                      <a:endParaRPr lang="en-US" sz="800" dirty="0">
                        <a:latin typeface="Source Sans Pro" charset="0"/>
                        <a:ea typeface="Source Sans Pro" charset="0"/>
                        <a:cs typeface="Source Sans Pro" charset="0"/>
                      </a:endParaRPr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Source Sans Pro" pitchFamily="34" charset="0"/>
                          <a:ea typeface="Source Sans Pro" pitchFamily="34" charset="-122"/>
                          <a:cs typeface="Source Sans Pro" pitchFamily="34" charset="-120"/>
                        </a:rPr>
                        <a:t>On track</a:t>
                      </a:r>
                      <a:endParaRPr lang="en-US" sz="800" dirty="0">
                        <a:latin typeface="Source Sans Pro" charset="0"/>
                        <a:ea typeface="Source Sans Pro" charset="0"/>
                        <a:cs typeface="Source Sans Pro" charset="0"/>
                      </a:endParaRPr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F8A6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9AA3AE"/>
                          </a:solidFill>
                          <a:latin typeface="Source Sans Pro" pitchFamily="34" charset="0"/>
                          <a:ea typeface="Source Sans Pro" pitchFamily="34" charset="-122"/>
                          <a:cs typeface="Source Sans Pro" pitchFamily="34" charset="-120"/>
                        </a:rPr>
                        <a:t>Max</a:t>
                      </a:r>
                      <a:endParaRPr lang="en-US" sz="800" dirty="0">
                        <a:latin typeface="Source Sans Pro" charset="0"/>
                        <a:ea typeface="Source Sans Pro" charset="0"/>
                        <a:cs typeface="Source Sans Pro" charset="0"/>
                      </a:endParaRPr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9AA3AE"/>
                          </a:solidFill>
                          <a:latin typeface="Source Sans Pro" pitchFamily="34" charset="0"/>
                          <a:ea typeface="Source Sans Pro" pitchFamily="34" charset="-122"/>
                          <a:cs typeface="Source Sans Pro" pitchFamily="34" charset="-120"/>
                        </a:rPr>
                        <a:t>e.g.  OCR module release</a:t>
                      </a:r>
                      <a:endParaRPr lang="en-US" sz="800" dirty="0">
                        <a:latin typeface="Source Sans Pro" charset="0"/>
                        <a:ea typeface="Source Sans Pro" charset="0"/>
                        <a:cs typeface="Source Sans Pro" charset="0"/>
                      </a:endParaRPr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9AA3AE"/>
                          </a:solidFill>
                          <a:latin typeface="Source Sans Pro" pitchFamily="34" charset="0"/>
                          <a:ea typeface="Source Sans Pro" pitchFamily="34" charset="-122"/>
                          <a:cs typeface="Source Sans Pro" pitchFamily="34" charset="-120"/>
                        </a:rPr>
                        <a:t>Toyota</a:t>
                      </a:r>
                      <a:endParaRPr lang="en-US" sz="800" dirty="0">
                        <a:latin typeface="Source Sans Pro" charset="0"/>
                        <a:ea typeface="Source Sans Pro" charset="0"/>
                        <a:cs typeface="Source Sans Pro" charset="0"/>
                      </a:endParaRPr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9AA3AE"/>
                          </a:solidFill>
                          <a:latin typeface="Source Sans Pro" pitchFamily="34" charset="0"/>
                          <a:ea typeface="Source Sans Pro" pitchFamily="34" charset="-122"/>
                          <a:cs typeface="Source Sans Pro" pitchFamily="34" charset="-120"/>
                        </a:rPr>
                        <a:t>$140K</a:t>
                      </a:r>
                      <a:endParaRPr lang="en-US" sz="800" dirty="0">
                        <a:latin typeface="Source Sans Pro" charset="0"/>
                        <a:ea typeface="Source Sans Pro" charset="0"/>
                        <a:cs typeface="Source Sans Pro" charset="0"/>
                      </a:endParaRPr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9AA3AE"/>
                          </a:solidFill>
                          <a:latin typeface="Source Sans Pro" pitchFamily="34" charset="0"/>
                          <a:ea typeface="Source Sans Pro" pitchFamily="34" charset="-122"/>
                          <a:cs typeface="Source Sans Pro" pitchFamily="34" charset="-120"/>
                        </a:rPr>
                        <a:t>Tue</a:t>
                      </a:r>
                      <a:endParaRPr lang="en-US" sz="800" dirty="0">
                        <a:latin typeface="Source Sans Pro" charset="0"/>
                        <a:ea typeface="Source Sans Pro" charset="0"/>
                        <a:cs typeface="Source Sans Pro" charset="0"/>
                      </a:endParaRPr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Source Sans Pro" pitchFamily="34" charset="0"/>
                          <a:ea typeface="Source Sans Pro" pitchFamily="34" charset="-122"/>
                          <a:cs typeface="Source Sans Pro" pitchFamily="34" charset="-120"/>
                        </a:rPr>
                        <a:t>At risk</a:t>
                      </a:r>
                      <a:endParaRPr lang="en-US" sz="800" dirty="0">
                        <a:latin typeface="Source Sans Pro" charset="0"/>
                        <a:ea typeface="Source Sans Pro" charset="0"/>
                        <a:cs typeface="Source Sans Pro" charset="0"/>
                      </a:endParaRPr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B23B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9AA3AE"/>
                          </a:solidFill>
                          <a:latin typeface="Source Sans Pro" pitchFamily="34" charset="0"/>
                          <a:ea typeface="Source Sans Pro" pitchFamily="34" charset="-122"/>
                          <a:cs typeface="Source Sans Pro" pitchFamily="34" charset="-120"/>
                        </a:rPr>
                        <a:t>Mizuno</a:t>
                      </a:r>
                      <a:endParaRPr lang="en-US" sz="800" dirty="0">
                        <a:latin typeface="Source Sans Pro" charset="0"/>
                        <a:ea typeface="Source Sans Pro" charset="0"/>
                        <a:cs typeface="Source Sans Pro" charset="0"/>
                      </a:endParaRPr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9AA3AE"/>
                          </a:solidFill>
                          <a:latin typeface="Source Sans Pro" pitchFamily="34" charset="0"/>
                          <a:ea typeface="Source Sans Pro" pitchFamily="34" charset="-122"/>
                          <a:cs typeface="Source Sans Pro" pitchFamily="34" charset="-120"/>
                        </a:rPr>
                        <a:t>e.g.  UAT sign-off pack</a:t>
                      </a:r>
                      <a:endParaRPr lang="en-US" sz="800" dirty="0">
                        <a:latin typeface="Source Sans Pro" charset="0"/>
                        <a:ea typeface="Source Sans Pro" charset="0"/>
                        <a:cs typeface="Source Sans Pro" charset="0"/>
                      </a:endParaRPr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9AA3AE"/>
                          </a:solidFill>
                          <a:latin typeface="Source Sans Pro" pitchFamily="34" charset="0"/>
                          <a:ea typeface="Source Sans Pro" pitchFamily="34" charset="-122"/>
                          <a:cs typeface="Source Sans Pro" pitchFamily="34" charset="-120"/>
                        </a:rPr>
                        <a:t>UBS</a:t>
                      </a:r>
                      <a:endParaRPr lang="en-US" sz="800" dirty="0">
                        <a:latin typeface="Source Sans Pro" charset="0"/>
                        <a:ea typeface="Source Sans Pro" charset="0"/>
                        <a:cs typeface="Source Sans Pro" charset="0"/>
                      </a:endParaRPr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9AA3AE"/>
                          </a:solidFill>
                          <a:latin typeface="Source Sans Pro" pitchFamily="34" charset="0"/>
                          <a:ea typeface="Source Sans Pro" pitchFamily="34" charset="-122"/>
                          <a:cs typeface="Source Sans Pro" pitchFamily="34" charset="-120"/>
                        </a:rPr>
                        <a:t>$80K</a:t>
                      </a:r>
                      <a:endParaRPr lang="en-US" sz="800" dirty="0">
                        <a:latin typeface="Source Sans Pro" charset="0"/>
                        <a:ea typeface="Source Sans Pro" charset="0"/>
                        <a:cs typeface="Source Sans Pro" charset="0"/>
                      </a:endParaRPr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9AA3AE"/>
                          </a:solidFill>
                          <a:latin typeface="Source Sans Pro" pitchFamily="34" charset="0"/>
                          <a:ea typeface="Source Sans Pro" pitchFamily="34" charset="-122"/>
                          <a:cs typeface="Source Sans Pro" pitchFamily="34" charset="-120"/>
                        </a:rPr>
                        <a:t>Mon</a:t>
                      </a:r>
                      <a:endParaRPr lang="en-US" sz="800" dirty="0">
                        <a:latin typeface="Source Sans Pro" charset="0"/>
                        <a:ea typeface="Source Sans Pro" charset="0"/>
                        <a:cs typeface="Source Sans Pro" charset="0"/>
                      </a:endParaRPr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Source Sans Pro" pitchFamily="34" charset="0"/>
                          <a:ea typeface="Source Sans Pro" pitchFamily="34" charset="-122"/>
                          <a:cs typeface="Source Sans Pro" pitchFamily="34" charset="-120"/>
                        </a:rPr>
                        <a:t>On track</a:t>
                      </a:r>
                      <a:endParaRPr lang="en-US" sz="800" dirty="0">
                        <a:latin typeface="Source Sans Pro" charset="0"/>
                        <a:ea typeface="Source Sans Pro" charset="0"/>
                        <a:cs typeface="Source Sans Pro" charset="0"/>
                      </a:endParaRPr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0F8A6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9AA3AE"/>
                          </a:solidFill>
                          <a:latin typeface="Source Sans Pro" pitchFamily="34" charset="0"/>
                          <a:ea typeface="Source Sans Pro" pitchFamily="34" charset="-122"/>
                          <a:cs typeface="Source Sans Pro" pitchFamily="34" charset="-120"/>
                        </a:rPr>
                        <a:t>Max</a:t>
                      </a:r>
                      <a:endParaRPr lang="en-US" sz="800" dirty="0">
                        <a:latin typeface="Source Sans Pro" charset="0"/>
                        <a:ea typeface="Source Sans Pro" charset="0"/>
                        <a:cs typeface="Source Sans Pro" charset="0"/>
                      </a:endParaRPr>
                    </a:p>
                  </a:txBody>
                  <a:tcPr marL="38100" marR="38100" marT="12700" marB="127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5D5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365760" y="3749040"/>
            <a:ext cx="4114800" cy="256032"/>
          </a:xfrm>
          <a:prstGeom prst="rect">
            <a:avLst/>
          </a:prstGeom>
          <a:solidFill>
            <a:srgbClr val="74792E"/>
          </a:solidFill>
          <a:ln/>
        </p:spPr>
      </p:sp>
      <p:sp>
        <p:nvSpPr>
          <p:cNvPr id="12" name="Text 9"/>
          <p:cNvSpPr/>
          <p:nvPr/>
        </p:nvSpPr>
        <p:spPr>
          <a:xfrm>
            <a:off x="475488" y="374904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3.  OBSTACLES  —  what's blocking delivery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365760" y="404164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9AA3AE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e.g.  Toyota client test-data is 3 days late — slips the $140K invoice into next month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4663440" y="3749040"/>
            <a:ext cx="4114800" cy="256032"/>
          </a:xfrm>
          <a:prstGeom prst="rect">
            <a:avLst/>
          </a:prstGeom>
          <a:solidFill>
            <a:srgbClr val="74792E"/>
          </a:solidFill>
          <a:ln/>
        </p:spPr>
      </p:sp>
      <p:sp>
        <p:nvSpPr>
          <p:cNvPr id="15" name="Text 12"/>
          <p:cNvSpPr/>
          <p:nvPr/>
        </p:nvSpPr>
        <p:spPr>
          <a:xfrm>
            <a:off x="4773168" y="374904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4.  ASKS  —  what we need &amp; who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4663440" y="404164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9AA3AE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e.g.  Bill to escalate the Toyota test-data request with the client today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365760" y="486460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A8B563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©2026 Nexus Frontier Tech  |  Confidential</a:t>
            </a:r>
            <a:endParaRPr lang="en-US" sz="600" dirty="0"/>
          </a:p>
        </p:txBody>
      </p:sp>
      <p:sp>
        <p:nvSpPr>
          <p:cNvPr id="18" name="Text 15"/>
          <p:cNvSpPr/>
          <p:nvPr/>
        </p:nvSpPr>
        <p:spPr>
          <a:xfrm>
            <a:off x="4206240" y="486460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A8B563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www.nexusfrontier.tech  ·  www.onenexus.ai</a:t>
            </a:r>
            <a:endParaRPr lang="en-US" sz="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20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200" kern="0" dirty="0">
                <a:solidFill>
                  <a:srgbClr val="C2CF24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WEEKLY STAND-UP  ·  FILL-IN TEMPLATE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65760" y="57607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656C18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Weekly stand-up template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365760" y="996696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56C1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Duplicate this slide each week. Fill every field. The number goes first.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417320"/>
            <a:ext cx="193167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50" kern="0" dirty="0">
                <a:solidFill>
                  <a:srgbClr val="9FA742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TEAM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365760" y="1682496"/>
            <a:ext cx="1931670" cy="0"/>
          </a:xfrm>
          <a:prstGeom prst="line">
            <a:avLst/>
          </a:prstGeom>
          <a:noFill/>
          <a:ln w="12700">
            <a:solidFill>
              <a:srgbClr val="D5D5D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26030" y="1417320"/>
            <a:ext cx="193167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50" kern="0" dirty="0">
                <a:solidFill>
                  <a:srgbClr val="9FA742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DATE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2526030" y="1682496"/>
            <a:ext cx="1931670" cy="0"/>
          </a:xfrm>
          <a:prstGeom prst="line">
            <a:avLst/>
          </a:prstGeom>
          <a:noFill/>
          <a:ln w="12700">
            <a:solidFill>
              <a:srgbClr val="D5D5D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86300" y="1417320"/>
            <a:ext cx="193167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50" kern="0" dirty="0">
                <a:solidFill>
                  <a:srgbClr val="9FA742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OWNER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4686300" y="1682496"/>
            <a:ext cx="1931670" cy="0"/>
          </a:xfrm>
          <a:prstGeom prst="line">
            <a:avLst/>
          </a:prstGeom>
          <a:noFill/>
          <a:ln w="12700">
            <a:solidFill>
              <a:srgbClr val="D5D5D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46570" y="1417320"/>
            <a:ext cx="193167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150" kern="0" dirty="0">
                <a:solidFill>
                  <a:srgbClr val="9FA742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REPORTED TO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6846570" y="1682496"/>
            <a:ext cx="1931670" cy="0"/>
          </a:xfrm>
          <a:prstGeom prst="line">
            <a:avLst/>
          </a:prstGeom>
          <a:noFill/>
          <a:ln w="12700">
            <a:solidFill>
              <a:srgbClr val="D5D5D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011680"/>
            <a:ext cx="406908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D5D5D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011680"/>
            <a:ext cx="54864" cy="1051560"/>
          </a:xfrm>
          <a:prstGeom prst="rect">
            <a:avLst/>
          </a:prstGeom>
          <a:solidFill>
            <a:srgbClr val="9FA742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2139696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FA742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1.  </a:t>
            </a:r>
            <a:pPr indent="0" marL="0">
              <a:buNone/>
            </a:pPr>
            <a:r>
              <a:rPr lang="en-US" sz="1100" b="1" dirty="0">
                <a:solidFill>
                  <a:srgbClr val="1F2A37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THE NUMBER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2432304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9595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today vs target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709160" y="2011680"/>
            <a:ext cx="406908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D5D5D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09160" y="2011680"/>
            <a:ext cx="54864" cy="1051560"/>
          </a:xfrm>
          <a:prstGeom prst="rect">
            <a:avLst/>
          </a:prstGeom>
          <a:solidFill>
            <a:srgbClr val="9FA742"/>
          </a:solidFill>
          <a:ln/>
        </p:spPr>
      </p:sp>
      <p:sp>
        <p:nvSpPr>
          <p:cNvPr id="19" name="Text 17"/>
          <p:cNvSpPr/>
          <p:nvPr/>
        </p:nvSpPr>
        <p:spPr>
          <a:xfrm>
            <a:off x="4892040" y="2139696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FA742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2.  </a:t>
            </a:r>
            <a:pPr indent="0" marL="0">
              <a:buNone/>
            </a:pPr>
            <a:r>
              <a:rPr lang="en-US" sz="1100" b="1" dirty="0">
                <a:solidFill>
                  <a:srgbClr val="1F2A37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THE GAP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92040" y="2432304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9595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what's between us &amp; the next dollar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65760" y="3227832"/>
            <a:ext cx="406908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D5D5D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" y="3227832"/>
            <a:ext cx="54864" cy="1051560"/>
          </a:xfrm>
          <a:prstGeom prst="rect">
            <a:avLst/>
          </a:prstGeom>
          <a:solidFill>
            <a:srgbClr val="9FA742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3355848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FA742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3.  </a:t>
            </a:r>
            <a:pPr indent="0" marL="0">
              <a:buNone/>
            </a:pPr>
            <a:r>
              <a:rPr lang="en-US" sz="1100" b="1" dirty="0">
                <a:solidFill>
                  <a:srgbClr val="1F2A37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THE MOVE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48640" y="3648456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9595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action  ·  owner  ·  by when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709160" y="3227832"/>
            <a:ext cx="406908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D5D5D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09160" y="3227832"/>
            <a:ext cx="54864" cy="1051560"/>
          </a:xfrm>
          <a:prstGeom prst="rect">
            <a:avLst/>
          </a:prstGeom>
          <a:solidFill>
            <a:srgbClr val="9FA742"/>
          </a:solidFill>
          <a:ln/>
        </p:spPr>
      </p:sp>
      <p:sp>
        <p:nvSpPr>
          <p:cNvPr id="27" name="Text 25"/>
          <p:cNvSpPr/>
          <p:nvPr/>
        </p:nvSpPr>
        <p:spPr>
          <a:xfrm>
            <a:off x="4892040" y="3355848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FA742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4.  </a:t>
            </a:r>
            <a:pPr indent="0" marL="0">
              <a:buNone/>
            </a:pPr>
            <a:r>
              <a:rPr lang="en-US" sz="1100" b="1" dirty="0">
                <a:solidFill>
                  <a:srgbClr val="1F2A37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THE BLOCKER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892040" y="3648456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95959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what's in the way  ·  who removes it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365760" y="4526280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5B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STATUS KEY: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1554480" y="4526280"/>
            <a:ext cx="1005840" cy="237744"/>
          </a:xfrm>
          <a:prstGeom prst="roundRect">
            <a:avLst>
              <a:gd name="adj" fmla="val 50000"/>
            </a:avLst>
          </a:prstGeom>
          <a:solidFill>
            <a:srgbClr val="0F8A60"/>
          </a:solidFill>
          <a:ln/>
        </p:spPr>
      </p:sp>
      <p:sp>
        <p:nvSpPr>
          <p:cNvPr id="31" name="Text 29"/>
          <p:cNvSpPr/>
          <p:nvPr/>
        </p:nvSpPr>
        <p:spPr>
          <a:xfrm>
            <a:off x="1554480" y="452628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On track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2743200" y="4526280"/>
            <a:ext cx="1005840" cy="237744"/>
          </a:xfrm>
          <a:prstGeom prst="roundRect">
            <a:avLst>
              <a:gd name="adj" fmla="val 50000"/>
            </a:avLst>
          </a:prstGeom>
          <a:solidFill>
            <a:srgbClr val="C08A2E"/>
          </a:solidFill>
          <a:ln/>
        </p:spPr>
      </p:sp>
      <p:sp>
        <p:nvSpPr>
          <p:cNvPr id="33" name="Text 31"/>
          <p:cNvSpPr/>
          <p:nvPr/>
        </p:nvSpPr>
        <p:spPr>
          <a:xfrm>
            <a:off x="2743200" y="452628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Watch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3931920" y="4526280"/>
            <a:ext cx="1005840" cy="237744"/>
          </a:xfrm>
          <a:prstGeom prst="roundRect">
            <a:avLst>
              <a:gd name="adj" fmla="val 50000"/>
            </a:avLst>
          </a:prstGeom>
          <a:solidFill>
            <a:srgbClr val="B23B3B"/>
          </a:solidFill>
          <a:ln/>
        </p:spPr>
      </p:sp>
      <p:sp>
        <p:nvSpPr>
          <p:cNvPr id="35" name="Text 33"/>
          <p:cNvSpPr/>
          <p:nvPr/>
        </p:nvSpPr>
        <p:spPr>
          <a:xfrm>
            <a:off x="3931920" y="452628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At risk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365760" y="486460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A8B563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©2026 Nexus Frontier Tech  |  Confidential</a:t>
            </a:r>
            <a:endParaRPr lang="en-US" sz="600" dirty="0"/>
          </a:p>
        </p:txBody>
      </p:sp>
      <p:sp>
        <p:nvSpPr>
          <p:cNvPr id="37" name="Text 35"/>
          <p:cNvSpPr/>
          <p:nvPr/>
        </p:nvSpPr>
        <p:spPr>
          <a:xfrm>
            <a:off x="4206240" y="486460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A8B563"/>
                </a:solidFill>
                <a:latin typeface="Poppins Medium" pitchFamily="34" charset="0"/>
                <a:ea typeface="Poppins Medium" pitchFamily="34" charset="-122"/>
                <a:cs typeface="Poppins Medium" pitchFamily="34" charset="-120"/>
              </a:rPr>
              <a:t>www.nexusfrontier.tech  ·  www.onenexus.ai</a:t>
            </a:r>
            <a:endParaRPr lang="en-US" sz="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Revenue-First Operating Cadence</dc:title>
  <dc:subject>PptxGenJS Presentation</dc:subject>
  <dc:creator>Nexus Frontier Tech</dc:creator>
  <cp:lastModifiedBy>Nexus Frontier Tech</cp:lastModifiedBy>
  <cp:revision>1</cp:revision>
  <dcterms:created xsi:type="dcterms:W3CDTF">2026-06-13T14:24:40Z</dcterms:created>
  <dcterms:modified xsi:type="dcterms:W3CDTF">2026-06-13T14:24:40Z</dcterms:modified>
</cp:coreProperties>
</file>