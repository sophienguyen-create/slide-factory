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Poppins Light"/>
      <p:regular r:id="rId19"/>
      <p:bold r:id="rId20"/>
      <p:italic r:id="rId21"/>
      <p:boldItalic r:id="rId22"/>
    </p:embeddedFont>
    <p:embeddedFont>
      <p:font typeface="Poppins Medium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AE24F4-7540-4D3E-8FC1-E0C8FFE30431}">
  <a:tblStyle styleId="{47AE24F4-7540-4D3E-8FC1-E0C8FFE304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bold.fntdata"/><Relationship Id="rId22" Type="http://schemas.openxmlformats.org/officeDocument/2006/relationships/font" Target="fonts/PoppinsLight-boldItalic.fntdata"/><Relationship Id="rId21" Type="http://schemas.openxmlformats.org/officeDocument/2006/relationships/font" Target="fonts/PoppinsLight-italic.fntdata"/><Relationship Id="rId24" Type="http://schemas.openxmlformats.org/officeDocument/2006/relationships/font" Target="fonts/PoppinsMedium-bold.fntdata"/><Relationship Id="rId23" Type="http://schemas.openxmlformats.org/officeDocument/2006/relationships/font" Target="fonts/Poppi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Medium-boldItalic.fntdata"/><Relationship Id="rId25" Type="http://schemas.openxmlformats.org/officeDocument/2006/relationships/font" Target="fonts/PoppinsMedium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PoppinsLight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76accde6a_26_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76accde6a_26_4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76accde6a_26_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76accde6a_0_55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e76accde6a_0_55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76accde6a_0_55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6accde6a_0_6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e76accde6a_0_6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e76accde6a_0_6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76accde6a_0_81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e76accde6a_0_81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76accde6a_0_81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76accde6a_0_76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e76accde6a_0_7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76accde6a_0_76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76accde6a_26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e76accde6a_26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76accde6a_26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76accde6a_26_1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e76accde6a_26_1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76accde6a_26_1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footers">
  <p:cSld name="TITLE_ONLY_1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2225" y="632225"/>
            <a:ext cx="84006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26 confidential / Page number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/>
        </p:nvSpPr>
        <p:spPr>
          <a:xfrm>
            <a:off x="5846919" y="4871902"/>
            <a:ext cx="283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9FA742"/>
                </a:solidFill>
                <a:latin typeface="Poppins"/>
                <a:ea typeface="Poppins"/>
                <a:cs typeface="Poppins"/>
                <a:sym typeface="Poppins"/>
              </a:rPr>
              <a:t>© 2026 Nexus Frontier Tech. All rights reserved. Confidential.</a:t>
            </a:r>
            <a:endParaRPr b="1" i="0" sz="700" u="none" cap="none" strike="noStrike">
              <a:solidFill>
                <a:srgbClr val="9FA7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54;p14"/>
          <p:cNvSpPr txBox="1"/>
          <p:nvPr/>
        </p:nvSpPr>
        <p:spPr>
          <a:xfrm>
            <a:off x="8576073" y="4833650"/>
            <a:ext cx="5595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3500" lIns="33500" spcFirstLastPara="1" rIns="33500" wrap="square" tIns="33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rgbClr val="9FA7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‹#›</a:t>
            </a:fld>
            <a:endParaRPr sz="700">
              <a:solidFill>
                <a:srgbClr val="9FA74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183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875" y="497613"/>
            <a:ext cx="876250" cy="11028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421000" y="3761700"/>
            <a:ext cx="38313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5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Insert Name | </a:t>
            </a:r>
            <a:r>
              <a:rPr lang="en-GB" sz="9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Insert Position</a:t>
            </a:r>
            <a:endParaRPr sz="95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5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work.email@nexusfrontier.tech</a:t>
            </a:r>
            <a:endParaRPr sz="95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5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5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www.nexusfrontier.tech | www.onenexus.ai </a:t>
            </a:r>
            <a:endParaRPr sz="95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421000" y="401875"/>
            <a:ext cx="548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Revenue-First Operating Cadence</a:t>
            </a:r>
            <a:endParaRPr sz="22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421000" y="925075"/>
            <a:ext cx="676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 new reporting &amp; stand-up model. Every meeting opens with the number — then the gap, the move, and the blocker. In that order.</a:t>
            </a:r>
            <a:endParaRPr sz="18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14102" y="2779607"/>
            <a:ext cx="7621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F0"/>
              </a:buClr>
              <a:buSzPts val="1033"/>
              <a:buFont typeface="Calibri"/>
              <a:buNone/>
            </a:pPr>
            <a:r>
              <a:rPr i="0" lang="en-GB" sz="1033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   ›   Commitment   ›   Delivery   ›   Invoice   ›   </a:t>
            </a:r>
            <a:r>
              <a:rPr i="0" lang="en-GB" sz="1033" u="none" cap="none" strike="noStrike">
                <a:solidFill>
                  <a:srgbClr val="C2C95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Cash</a:t>
            </a:r>
            <a:endParaRPr i="0" sz="1033" u="none" cap="none" strike="noStrike">
              <a:solidFill>
                <a:srgbClr val="C2C95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6841061" y="4841997"/>
            <a:ext cx="21030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50" lIns="34250" spcFirstLastPara="1" rIns="34250" wrap="square" tIns="342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00"/>
              <a:buFont typeface="Arial"/>
              <a:buNone/>
            </a:pPr>
            <a:r>
              <a:rPr baseline="30000" i="0" lang="en-GB" sz="6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©</a:t>
            </a:r>
            <a:r>
              <a:rPr i="0" lang="en-GB" sz="6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</a:t>
            </a:r>
            <a:r>
              <a:rPr lang="en-GB" sz="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  <a:r>
              <a:rPr i="0" lang="en-GB" sz="6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Nexus Frontier Tech | Confidential</a:t>
            </a:r>
            <a:endParaRPr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535000" y="3519722"/>
            <a:ext cx="431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5"/>
          <p:cNvSpPr txBox="1"/>
          <p:nvPr/>
        </p:nvSpPr>
        <p:spPr>
          <a:xfrm>
            <a:off x="420997" y="1998659"/>
            <a:ext cx="434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8D2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[04 June 2026]</a:t>
            </a:r>
            <a:endParaRPr sz="1000">
              <a:solidFill>
                <a:srgbClr val="C8D2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14102" y="2571740"/>
            <a:ext cx="76218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198"/>
              </a:buClr>
              <a:buSzPts val="689"/>
              <a:buFont typeface="Calibri"/>
              <a:buNone/>
            </a:pPr>
            <a:r>
              <a:rPr i="0" lang="en-GB" sz="689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ONE CHAIN OF VALUE</a:t>
            </a:r>
            <a:endParaRPr i="0" sz="689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600900" y="508525"/>
            <a:ext cx="1438500" cy="309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8D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1400"/>
              <a:buFont typeface="Arial"/>
              <a:buNone/>
            </a:pPr>
            <a:r>
              <a:rPr lang="en-GB" sz="800">
                <a:solidFill>
                  <a:srgbClr val="C2CF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OPERATING MODEL</a:t>
            </a:r>
            <a:endParaRPr sz="800">
              <a:solidFill>
                <a:srgbClr val="C2CF2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6"/>
          <p:cNvCxnSpPr/>
          <p:nvPr/>
        </p:nvCxnSpPr>
        <p:spPr>
          <a:xfrm>
            <a:off x="381000" y="333375"/>
            <a:ext cx="0" cy="57150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BFD14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571500" y="285750"/>
            <a:ext cx="8094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Sell AI Workers. We Charge Per Outcome.</a:t>
            </a:r>
            <a:endParaRPr b="0" sz="19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A Nexus Outcome Unit (NCU) is a completed, quality-assured business outcome delivered by an AI Worker.</a:t>
            </a:r>
            <a:endParaRPr b="0" sz="10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7" name="Google Shape;77;p16"/>
          <p:cNvGrpSpPr/>
          <p:nvPr/>
        </p:nvGrpSpPr>
        <p:grpSpPr>
          <a:xfrm>
            <a:off x="408858" y="982500"/>
            <a:ext cx="6253810" cy="666900"/>
            <a:chOff x="381000" y="1238250"/>
            <a:chExt cx="4191000" cy="666900"/>
          </a:xfrm>
        </p:grpSpPr>
        <p:sp>
          <p:nvSpPr>
            <p:cNvPr id="78" name="Google Shape;78;p16"/>
            <p:cNvSpPr/>
            <p:nvPr/>
          </p:nvSpPr>
          <p:spPr>
            <a:xfrm>
              <a:off x="381000" y="1238250"/>
              <a:ext cx="4191000" cy="666900"/>
            </a:xfrm>
            <a:prstGeom prst="rect">
              <a:avLst/>
            </a:prstGeom>
            <a:solidFill>
              <a:srgbClr val="F8F9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381000" y="1238250"/>
              <a:ext cx="38100" cy="666900"/>
            </a:xfrm>
            <a:prstGeom prst="rect">
              <a:avLst/>
            </a:prstGeom>
            <a:solidFill>
              <a:srgbClr val="BFD1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523875" y="1285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8C8C8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WORK DONE · NCU</a:t>
              </a:r>
              <a:endParaRPr b="0" sz="694">
                <a:solidFill>
                  <a:srgbClr val="8C8C8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118">
                  <a:solidFill>
                    <a:srgbClr val="656C1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NCU</a:t>
              </a:r>
              <a:r>
                <a:rPr b="0" lang="en-GB" sz="1118">
                  <a:solidFill>
                    <a:srgbClr val="656C1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— </a:t>
              </a:r>
              <a:r>
                <a:rPr lang="en-GB" sz="1118">
                  <a:solidFill>
                    <a:srgbClr val="656C1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outcome unit</a:t>
              </a:r>
              <a:endParaRPr b="0" sz="1118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40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Reports generated · Data processed · Company analyzed · Filing reviewed</a:t>
              </a:r>
              <a:endParaRPr sz="84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3381375" y="1466850"/>
              <a:ext cx="1047900" cy="209700"/>
            </a:xfrm>
            <a:prstGeom prst="roundRect">
              <a:avLst>
                <a:gd fmla="val 50000" name="adj"/>
              </a:avLst>
            </a:prstGeom>
            <a:solidFill>
              <a:srgbClr val="1A3A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3381375" y="1466850"/>
              <a:ext cx="1047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7EB8F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Revenue per unit</a:t>
              </a:r>
              <a:endParaRPr b="0" sz="750">
                <a:solidFill>
                  <a:srgbClr val="7EB8F5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83" name="Google Shape;83;p16"/>
          <p:cNvGrpSpPr/>
          <p:nvPr/>
        </p:nvGrpSpPr>
        <p:grpSpPr>
          <a:xfrm>
            <a:off x="408858" y="1744500"/>
            <a:ext cx="6253810" cy="666900"/>
            <a:chOff x="381000" y="2000250"/>
            <a:chExt cx="4191000" cy="666900"/>
          </a:xfrm>
        </p:grpSpPr>
        <p:sp>
          <p:nvSpPr>
            <p:cNvPr id="84" name="Google Shape;84;p16"/>
            <p:cNvSpPr/>
            <p:nvPr/>
          </p:nvSpPr>
          <p:spPr>
            <a:xfrm>
              <a:off x="381000" y="2000250"/>
              <a:ext cx="4191000" cy="666900"/>
            </a:xfrm>
            <a:prstGeom prst="rect">
              <a:avLst/>
            </a:prstGeom>
            <a:solidFill>
              <a:srgbClr val="F8F9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381000" y="2000250"/>
              <a:ext cx="38100" cy="666900"/>
            </a:xfrm>
            <a:prstGeom prst="rect">
              <a:avLst/>
            </a:prstGeom>
            <a:solidFill>
              <a:srgbClr val="A8B56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 txBox="1"/>
            <p:nvPr/>
          </p:nvSpPr>
          <p:spPr>
            <a:xfrm>
              <a:off x="523875" y="2047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8C8C8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CHANNEL · DISTRIBUTION</a:t>
              </a:r>
              <a:endParaRPr b="0" sz="750">
                <a:solidFill>
                  <a:srgbClr val="8C8C8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656C1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Business process</a:t>
              </a:r>
              <a:r>
                <a:rPr b="0" lang="en-GB" sz="1100">
                  <a:solidFill>
                    <a:srgbClr val="656C1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— distribution</a:t>
              </a:r>
              <a:endParaRPr b="0" sz="1100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Workflow applications · Same business process sold to many clients</a:t>
              </a:r>
              <a:endParaRPr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3381375" y="2228850"/>
              <a:ext cx="1047900" cy="209700"/>
            </a:xfrm>
            <a:prstGeom prst="roundRect">
              <a:avLst>
                <a:gd fmla="val 50000" name="adj"/>
              </a:avLst>
            </a:prstGeom>
            <a:solidFill>
              <a:srgbClr val="1A4D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3381375" y="2228850"/>
              <a:ext cx="1047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1D9E75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Revenue multiplier</a:t>
              </a:r>
              <a:endParaRPr b="0" sz="750">
                <a:solidFill>
                  <a:srgbClr val="1D9E75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408858" y="2506500"/>
            <a:ext cx="6253810" cy="666900"/>
            <a:chOff x="381000" y="2762250"/>
            <a:chExt cx="4191000" cy="666900"/>
          </a:xfrm>
        </p:grpSpPr>
        <p:sp>
          <p:nvSpPr>
            <p:cNvPr id="90" name="Google Shape;90;p16"/>
            <p:cNvSpPr/>
            <p:nvPr/>
          </p:nvSpPr>
          <p:spPr>
            <a:xfrm>
              <a:off x="381000" y="2762250"/>
              <a:ext cx="4191000" cy="666900"/>
            </a:xfrm>
            <a:prstGeom prst="rect">
              <a:avLst/>
            </a:prstGeom>
            <a:solidFill>
              <a:srgbClr val="F8F9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381000" y="2762250"/>
              <a:ext cx="38100" cy="666900"/>
            </a:xfrm>
            <a:prstGeom prst="rect">
              <a:avLst/>
            </a:prstGeom>
            <a:solidFill>
              <a:srgbClr val="9FA7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523875" y="2809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8C8C8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SCALE · PLATFORM</a:t>
              </a:r>
              <a:endParaRPr b="0" sz="750">
                <a:solidFill>
                  <a:srgbClr val="8C8C8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656C1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OneNexus platform — scale engine</a:t>
              </a:r>
              <a:endParaRPr b="0" sz="1100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Lower cost · Faster deployment · Continuous learning</a:t>
              </a:r>
              <a:endParaRPr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3381375" y="2990850"/>
              <a:ext cx="1047900" cy="209700"/>
            </a:xfrm>
            <a:prstGeom prst="roundRect">
              <a:avLst>
                <a:gd fmla="val 50000" name="adj"/>
              </a:avLst>
            </a:prstGeom>
            <a:solidFill>
              <a:srgbClr val="3D2E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3381375" y="2990850"/>
              <a:ext cx="1047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EF9F2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Margin lever</a:t>
              </a:r>
              <a:endParaRPr b="0" sz="750">
                <a:solidFill>
                  <a:srgbClr val="EF9F2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408858" y="3268500"/>
            <a:ext cx="6253810" cy="666900"/>
            <a:chOff x="381000" y="3524250"/>
            <a:chExt cx="4191000" cy="666900"/>
          </a:xfrm>
        </p:grpSpPr>
        <p:sp>
          <p:nvSpPr>
            <p:cNvPr id="96" name="Google Shape;96;p16"/>
            <p:cNvSpPr/>
            <p:nvPr/>
          </p:nvSpPr>
          <p:spPr>
            <a:xfrm>
              <a:off x="381000" y="3524250"/>
              <a:ext cx="4191000" cy="666900"/>
            </a:xfrm>
            <a:prstGeom prst="rect">
              <a:avLst/>
            </a:prstGeom>
            <a:solidFill>
              <a:srgbClr val="F8F9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381000" y="3524250"/>
              <a:ext cx="38100" cy="666900"/>
            </a:xfrm>
            <a:prstGeom prst="rect">
              <a:avLst/>
            </a:prstGeom>
            <a:solidFill>
              <a:srgbClr val="C2CF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523875" y="35718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694">
                  <a:solidFill>
                    <a:srgbClr val="8C8C8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SERVICES · HUMAN ASSURANCE</a:t>
              </a:r>
              <a:endParaRPr b="0" sz="694">
                <a:solidFill>
                  <a:srgbClr val="8C8C8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18">
                  <a:solidFill>
                    <a:srgbClr val="656C1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Services — human assurance</a:t>
              </a:r>
              <a:endParaRPr b="0" sz="1118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40">
                  <a:solidFill>
                    <a:srgbClr val="595959"/>
                  </a:solidFill>
                  <a:latin typeface="Poppins"/>
                  <a:ea typeface="Poppins"/>
                  <a:cs typeface="Poppins"/>
                  <a:sym typeface="Poppins"/>
                </a:rPr>
                <a:t>Credentialed professionals validate every output · 100% assured </a:t>
              </a:r>
              <a:r>
                <a:rPr lang="en-GB" sz="84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· Feeds platform learning</a:t>
              </a:r>
              <a:endParaRPr sz="84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3381375" y="3752850"/>
              <a:ext cx="1047900" cy="209700"/>
            </a:xfrm>
            <a:prstGeom prst="roundRect">
              <a:avLst>
                <a:gd fmla="val 50000" name="adj"/>
              </a:avLst>
            </a:prstGeom>
            <a:solidFill>
              <a:srgbClr val="3D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3381375" y="3752850"/>
              <a:ext cx="1047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E24B4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Quality moat</a:t>
              </a:r>
              <a:endParaRPr b="0" sz="750">
                <a:solidFill>
                  <a:srgbClr val="E24B4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101" name="Google Shape;101;p16"/>
          <p:cNvSpPr txBox="1"/>
          <p:nvPr/>
        </p:nvSpPr>
        <p:spPr>
          <a:xfrm>
            <a:off x="1475679" y="4117059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 u="sng" strike="noStrike">
                <a:solidFill>
                  <a:srgbClr val="8C8C8C"/>
                </a:solidFill>
                <a:latin typeface="Poppins"/>
                <a:ea typeface="Poppins"/>
                <a:cs typeface="Poppins"/>
                <a:sym typeface="Poppins"/>
              </a:rPr>
              <a:t>THE COMPOUNDING FLYWHEEL</a:t>
            </a:r>
            <a:endParaRPr b="1" sz="1000" u="sng" strike="noStrike">
              <a:solidFill>
                <a:srgbClr val="8C8C8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403150" y="4346029"/>
            <a:ext cx="2013000" cy="4287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1475035" y="4393664"/>
            <a:ext cx="1869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More services</a:t>
            </a:r>
            <a:endParaRPr b="0" sz="950">
              <a:solidFill>
                <a:srgbClr val="656C1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Richer data fed back to platform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565502" y="4346029"/>
            <a:ext cx="2013000" cy="4287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637387" y="4393664"/>
            <a:ext cx="1869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Smarter platform</a:t>
            </a:r>
            <a:endParaRPr b="0" sz="950">
              <a:solidFill>
                <a:srgbClr val="656C1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Lower cost, faster deployments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727854" y="4342265"/>
            <a:ext cx="2013000" cy="4287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5799739" y="4389901"/>
            <a:ext cx="1869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More </a:t>
            </a:r>
            <a:r>
              <a:rPr lang="en-GB" sz="950">
                <a:solidFill>
                  <a:srgbClr val="656C1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processes</a:t>
            </a:r>
            <a:endParaRPr b="0" sz="950">
              <a:solidFill>
                <a:srgbClr val="656C1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More clients, more NCU volume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81000" y="4862947"/>
            <a:ext cx="8382000" cy="9600"/>
          </a:xfrm>
          <a:prstGeom prst="rect">
            <a:avLst/>
          </a:prstGeom>
          <a:solidFill>
            <a:srgbClr val="E5E7D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33375" y="4943582"/>
            <a:ext cx="41148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50">
                <a:solidFill>
                  <a:srgbClr val="A8B563"/>
                </a:solidFill>
                <a:latin typeface="Poppins"/>
                <a:ea typeface="Poppins"/>
                <a:cs typeface="Poppins"/>
                <a:sym typeface="Poppins"/>
              </a:rPr>
              <a:t>NEUS FRONTIER TECH · CONFIDENTIAL · © 2026</a:t>
            </a:r>
            <a:endParaRPr b="0" sz="750">
              <a:solidFill>
                <a:srgbClr val="A8B5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6"/>
          <p:cNvSpPr/>
          <p:nvPr/>
        </p:nvSpPr>
        <p:spPr>
          <a:xfrm flipH="1" rot="10800000">
            <a:off x="5515020" y="1637053"/>
            <a:ext cx="329100" cy="142800"/>
          </a:xfrm>
          <a:prstGeom prst="downArrow">
            <a:avLst>
              <a:gd fmla="val 50000" name="adj1"/>
              <a:gd fmla="val 100000" name="adj2"/>
            </a:avLst>
          </a:prstGeom>
          <a:solidFill>
            <a:srgbClr val="74792E"/>
          </a:solidFill>
          <a:ln cap="flat" cmpd="sng" w="9525">
            <a:solidFill>
              <a:srgbClr val="747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 rot="-5400000">
            <a:off x="3384429" y="4508637"/>
            <a:ext cx="232200" cy="103500"/>
          </a:xfrm>
          <a:prstGeom prst="downArrow">
            <a:avLst>
              <a:gd fmla="val 50000" name="adj1"/>
              <a:gd fmla="val 100000" name="adj2"/>
            </a:avLst>
          </a:prstGeom>
          <a:solidFill>
            <a:srgbClr val="74792E"/>
          </a:solidFill>
          <a:ln cap="flat" cmpd="sng" w="9525">
            <a:solidFill>
              <a:srgbClr val="747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 flipH="1" rot="10800000">
            <a:off x="5515020" y="2399053"/>
            <a:ext cx="329100" cy="142800"/>
          </a:xfrm>
          <a:prstGeom prst="downArrow">
            <a:avLst>
              <a:gd fmla="val 50000" name="adj1"/>
              <a:gd fmla="val 100000" name="adj2"/>
            </a:avLst>
          </a:prstGeom>
          <a:solidFill>
            <a:srgbClr val="74792E"/>
          </a:solidFill>
          <a:ln cap="flat" cmpd="sng" w="9525">
            <a:solidFill>
              <a:srgbClr val="747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 flipH="1" rot="10800000">
            <a:off x="5515020" y="3137203"/>
            <a:ext cx="329100" cy="142800"/>
          </a:xfrm>
          <a:prstGeom prst="downArrow">
            <a:avLst>
              <a:gd fmla="val 50000" name="adj1"/>
              <a:gd fmla="val 100000" name="adj2"/>
            </a:avLst>
          </a:prstGeom>
          <a:solidFill>
            <a:srgbClr val="74792E"/>
          </a:solidFill>
          <a:ln cap="flat" cmpd="sng" w="9525">
            <a:solidFill>
              <a:srgbClr val="747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 rot="-5400000">
            <a:off x="5563469" y="4508637"/>
            <a:ext cx="232200" cy="103500"/>
          </a:xfrm>
          <a:prstGeom prst="downArrow">
            <a:avLst>
              <a:gd fmla="val 50000" name="adj1"/>
              <a:gd fmla="val 100000" name="adj2"/>
            </a:avLst>
          </a:prstGeom>
          <a:solidFill>
            <a:srgbClr val="74792E"/>
          </a:solidFill>
          <a:ln cap="flat" cmpd="sng" w="9525">
            <a:solidFill>
              <a:srgbClr val="747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6932575" y="982149"/>
            <a:ext cx="1911900" cy="8055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6932575" y="1733755"/>
            <a:ext cx="1911900" cy="53700"/>
          </a:xfrm>
          <a:prstGeom prst="rect">
            <a:avLst/>
          </a:prstGeom>
          <a:solidFill>
            <a:srgbClr val="BFD1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932575" y="1049256"/>
            <a:ext cx="1911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Fixed</a:t>
            </a:r>
            <a:endParaRPr b="1" sz="16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Output per NCU - no ambiguous scope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932575" y="2055872"/>
            <a:ext cx="1911900" cy="8055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6932575" y="2807478"/>
            <a:ext cx="1911900" cy="53700"/>
          </a:xfrm>
          <a:prstGeom prst="rect">
            <a:avLst/>
          </a:prstGeom>
          <a:solidFill>
            <a:srgbClr val="A8B5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932575" y="2122980"/>
            <a:ext cx="1911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 b="1" sz="16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Human-assured quality on every deliverable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6932575" y="3129595"/>
            <a:ext cx="1911900" cy="8055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932575" y="3881202"/>
            <a:ext cx="1911900" cy="537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932575" y="3196703"/>
            <a:ext cx="1911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↑ Margin</a:t>
            </a:r>
            <a:endParaRPr b="1" sz="16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Platform learns, cost-per-NCU falls over time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409584" y="1498127"/>
            <a:ext cx="1501140" cy="1125855"/>
          </a:xfrm>
          <a:prstGeom prst="roundRect">
            <a:avLst>
              <a:gd fmla="val 3333" name="adj"/>
            </a:avLst>
          </a:prstGeom>
          <a:solidFill>
            <a:srgbClr val="F4F6F9"/>
          </a:solidFill>
          <a:ln cap="flat" cmpd="sng" w="9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409584" y="1498127"/>
            <a:ext cx="46985" cy="1125855"/>
          </a:xfrm>
          <a:prstGeom prst="rect">
            <a:avLst/>
          </a:prstGeom>
          <a:solidFill>
            <a:srgbClr val="656C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50315" y="1591948"/>
            <a:ext cx="1219824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85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b="0" sz="985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295"/>
              </a:spcBef>
              <a:spcAft>
                <a:spcPts val="0"/>
              </a:spcAft>
              <a:buNone/>
            </a:pPr>
            <a:r>
              <a:rPr b="0" lang="en-GB" sz="1379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</a:t>
            </a:r>
            <a:endParaRPr b="0" sz="1379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591"/>
              </a:spcBef>
              <a:spcAft>
                <a:spcPts val="0"/>
              </a:spcAft>
              <a:buNone/>
            </a:pPr>
            <a:r>
              <a:rPr b="0" lang="en-GB" sz="88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Qualified opportunities</a:t>
            </a:r>
            <a:endParaRPr b="0" sz="88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09584" y="2670893"/>
            <a:ext cx="1501140" cy="281612"/>
          </a:xfrm>
          <a:prstGeom prst="roundRect">
            <a:avLst>
              <a:gd fmla="val 13333" name="adj"/>
            </a:avLst>
          </a:prstGeom>
          <a:solidFill>
            <a:srgbClr val="BABA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09584" y="2670893"/>
            <a:ext cx="1501140" cy="28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37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 </a:t>
            </a:r>
            <a:endParaRPr b="0" sz="837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0630" y="2014144"/>
            <a:ext cx="145500" cy="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2117130" y="1498127"/>
            <a:ext cx="1501140" cy="1125855"/>
          </a:xfrm>
          <a:prstGeom prst="roundRect">
            <a:avLst>
              <a:gd fmla="val 3333" name="adj"/>
            </a:avLst>
          </a:prstGeom>
          <a:solidFill>
            <a:srgbClr val="F4F6F9"/>
          </a:solidFill>
          <a:ln cap="flat" cmpd="sng" w="9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2117130" y="1498127"/>
            <a:ext cx="46985" cy="1125855"/>
          </a:xfrm>
          <a:prstGeom prst="rect">
            <a:avLst/>
          </a:prstGeom>
          <a:solidFill>
            <a:srgbClr val="656C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2257862" y="1591948"/>
            <a:ext cx="1219824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85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endParaRPr b="0" sz="985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295"/>
              </a:spcBef>
              <a:spcAft>
                <a:spcPts val="0"/>
              </a:spcAft>
              <a:buNone/>
            </a:pPr>
            <a:r>
              <a:rPr b="0" lang="en-GB" sz="1379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Commitment</a:t>
            </a:r>
            <a:endParaRPr b="0" sz="1379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591"/>
              </a:spcBef>
              <a:spcAft>
                <a:spcPts val="0"/>
              </a:spcAft>
              <a:buNone/>
            </a:pPr>
            <a:r>
              <a:rPr b="0" lang="en-GB" sz="88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Signed &amp; committed </a:t>
            </a:r>
            <a:r>
              <a:rPr lang="en-GB" sz="88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SoWs</a:t>
            </a:r>
            <a:endParaRPr b="0" sz="88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17130" y="2670893"/>
            <a:ext cx="1501140" cy="281612"/>
          </a:xfrm>
          <a:prstGeom prst="roundRect">
            <a:avLst>
              <a:gd fmla="val 13333" name="adj"/>
            </a:avLst>
          </a:prstGeom>
          <a:solidFill>
            <a:srgbClr val="BABA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117130" y="2670893"/>
            <a:ext cx="1501140" cy="28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37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Pre-Sales</a:t>
            </a:r>
            <a:endParaRPr b="0" sz="837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176" y="2014144"/>
            <a:ext cx="145500" cy="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3824677" y="1498127"/>
            <a:ext cx="1501140" cy="1125855"/>
          </a:xfrm>
          <a:prstGeom prst="roundRect">
            <a:avLst>
              <a:gd fmla="val 3333" name="adj"/>
            </a:avLst>
          </a:prstGeom>
          <a:solidFill>
            <a:srgbClr val="F4F6F9"/>
          </a:solidFill>
          <a:ln cap="flat" cmpd="sng" w="9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3824677" y="1498127"/>
            <a:ext cx="46985" cy="1125855"/>
          </a:xfrm>
          <a:prstGeom prst="rect">
            <a:avLst/>
          </a:prstGeom>
          <a:solidFill>
            <a:srgbClr val="656C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965409" y="1591948"/>
            <a:ext cx="1219824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85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endParaRPr b="0" sz="985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295"/>
              </a:spcBef>
              <a:spcAft>
                <a:spcPts val="0"/>
              </a:spcAft>
              <a:buNone/>
            </a:pPr>
            <a:r>
              <a:rPr b="0" lang="en-GB" sz="1379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Delivery</a:t>
            </a:r>
            <a:endParaRPr b="0" sz="1379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591"/>
              </a:spcBef>
              <a:spcAft>
                <a:spcPts val="0"/>
              </a:spcAft>
              <a:buNone/>
            </a:pPr>
            <a:r>
              <a:rPr b="0" lang="en-GB" sz="88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Build &amp; ship the work</a:t>
            </a:r>
            <a:endParaRPr b="0" sz="88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824677" y="2670893"/>
            <a:ext cx="1501140" cy="281612"/>
          </a:xfrm>
          <a:prstGeom prst="roundRect">
            <a:avLst>
              <a:gd fmla="val 13333" name="adj"/>
            </a:avLst>
          </a:prstGeom>
          <a:solidFill>
            <a:srgbClr val="BABA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3824677" y="2670893"/>
            <a:ext cx="1501140" cy="28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37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</a:t>
            </a:r>
            <a:endParaRPr b="0" sz="837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5723" y="2014144"/>
            <a:ext cx="145500" cy="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532224" y="1498127"/>
            <a:ext cx="1501140" cy="1125855"/>
          </a:xfrm>
          <a:prstGeom prst="roundRect">
            <a:avLst>
              <a:gd fmla="val 3333" name="adj"/>
            </a:avLst>
          </a:prstGeom>
          <a:solidFill>
            <a:srgbClr val="F4F6F9"/>
          </a:solidFill>
          <a:ln cap="flat" cmpd="sng" w="9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532224" y="1498127"/>
            <a:ext cx="46985" cy="1125855"/>
          </a:xfrm>
          <a:prstGeom prst="rect">
            <a:avLst/>
          </a:prstGeom>
          <a:solidFill>
            <a:srgbClr val="656C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672956" y="1591948"/>
            <a:ext cx="1219824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85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</a:t>
            </a:r>
            <a:endParaRPr b="0" sz="985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295"/>
              </a:spcBef>
              <a:spcAft>
                <a:spcPts val="0"/>
              </a:spcAft>
              <a:buNone/>
            </a:pPr>
            <a:r>
              <a:rPr b="0" lang="en-GB" sz="1379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Invoice</a:t>
            </a:r>
            <a:endParaRPr b="0" sz="1379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591"/>
              </a:spcBef>
              <a:spcAft>
                <a:spcPts val="0"/>
              </a:spcAft>
              <a:buNone/>
            </a:pPr>
            <a:r>
              <a:rPr b="0" lang="en-GB" sz="88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Trigger the bill</a:t>
            </a:r>
            <a:endParaRPr b="0" sz="88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532224" y="2670893"/>
            <a:ext cx="1501140" cy="281612"/>
          </a:xfrm>
          <a:prstGeom prst="roundRect">
            <a:avLst>
              <a:gd fmla="val 13333" name="adj"/>
            </a:avLst>
          </a:prstGeom>
          <a:solidFill>
            <a:srgbClr val="BABAB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532224" y="2670893"/>
            <a:ext cx="1501140" cy="28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Pre-Sales</a:t>
            </a:r>
            <a:r>
              <a:rPr b="0" lang="en-GB" sz="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/Finance</a:t>
            </a:r>
            <a:endParaRPr b="0" sz="8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3270" y="2014144"/>
            <a:ext cx="145500" cy="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7239771" y="1498127"/>
            <a:ext cx="1501140" cy="1125855"/>
          </a:xfrm>
          <a:prstGeom prst="roundRect">
            <a:avLst>
              <a:gd fmla="val 3333" name="adj"/>
            </a:avLst>
          </a:prstGeom>
          <a:solidFill>
            <a:srgbClr val="F4F6F9"/>
          </a:solidFill>
          <a:ln cap="flat" cmpd="sng" w="9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7239771" y="1498127"/>
            <a:ext cx="46985" cy="1125855"/>
          </a:xfrm>
          <a:prstGeom prst="rect">
            <a:avLst/>
          </a:prstGeom>
          <a:solidFill>
            <a:srgbClr val="C2CF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380502" y="1591948"/>
            <a:ext cx="1219824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85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</a:t>
            </a:r>
            <a:endParaRPr b="0" sz="985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295"/>
              </a:spcBef>
              <a:spcAft>
                <a:spcPts val="0"/>
              </a:spcAft>
              <a:buNone/>
            </a:pPr>
            <a:r>
              <a:rPr b="0" lang="en-GB" sz="1379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Cash</a:t>
            </a:r>
            <a:endParaRPr b="0" sz="1379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591"/>
              </a:spcBef>
              <a:spcAft>
                <a:spcPts val="0"/>
              </a:spcAft>
              <a:buNone/>
            </a:pPr>
            <a:r>
              <a:rPr b="0" lang="en-GB" sz="88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Collect the money</a:t>
            </a:r>
            <a:endParaRPr b="0" sz="88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239771" y="2670893"/>
            <a:ext cx="1501140" cy="281612"/>
          </a:xfrm>
          <a:prstGeom prst="roundRect">
            <a:avLst>
              <a:gd fmla="val 13333" name="adj"/>
            </a:avLst>
          </a:prstGeom>
          <a:solidFill>
            <a:srgbClr val="C2CF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239771" y="2670893"/>
            <a:ext cx="1501140" cy="28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7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Sales/</a:t>
            </a:r>
            <a:r>
              <a:rPr b="0" lang="en-GB" sz="837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Finance</a:t>
            </a:r>
            <a:endParaRPr b="0" sz="837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409584" y="3186909"/>
            <a:ext cx="8331327" cy="187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886">
                <a:solidFill>
                  <a:srgbClr val="5B6675"/>
                </a:solidFill>
                <a:latin typeface="Poppins"/>
                <a:ea typeface="Poppins"/>
                <a:cs typeface="Poppins"/>
                <a:sym typeface="Poppins"/>
              </a:rPr>
              <a:t>All segments roll up to one number</a:t>
            </a:r>
            <a:endParaRPr b="0" i="1" sz="886">
              <a:solidFill>
                <a:srgbClr val="5B667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409584" y="3468373"/>
            <a:ext cx="8331327" cy="65689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409580" y="3468375"/>
            <a:ext cx="26100" cy="657000"/>
          </a:xfrm>
          <a:prstGeom prst="rect">
            <a:avLst/>
          </a:prstGeom>
          <a:solidFill>
            <a:srgbClr val="C8D2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15990" y="3468373"/>
            <a:ext cx="7974954" cy="65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79">
                <a:solidFill>
                  <a:srgbClr val="9FA74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COMPANY REVENUE NUMBER</a:t>
            </a:r>
            <a:r>
              <a:rPr i="1" lang="en-GB" sz="1134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the first line of every leadership report</a:t>
            </a:r>
            <a:endParaRPr sz="1479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409584" y="4359675"/>
            <a:ext cx="8331327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5">
                <a:solidFill>
                  <a:srgbClr val="5B6675"/>
                </a:solidFill>
                <a:latin typeface="Poppins Light"/>
                <a:ea typeface="Poppins Light"/>
                <a:cs typeface="Poppins Light"/>
                <a:sym typeface="Poppins Light"/>
              </a:rPr>
              <a:t>Daily team stand-ups feed the management report. Every layer leads with revenue — booked, gated, invoiced, collected.</a:t>
            </a:r>
            <a:endParaRPr sz="985">
              <a:solidFill>
                <a:srgbClr val="5B6675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5">
              <a:solidFill>
                <a:srgbClr val="5B6675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61321" y="400900"/>
            <a:ext cx="6124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One chain of value — every team owns a segment</a:t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61325" y="1009050"/>
            <a:ext cx="7715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Each team reports against the part of the chain it controls. It all rolls up to a single company number.</a:t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5" name="Google Shape;165;p17"/>
          <p:cNvCxnSpPr>
            <a:endCxn id="164" idx="1"/>
          </p:cNvCxnSpPr>
          <p:nvPr/>
        </p:nvCxnSpPr>
        <p:spPr>
          <a:xfrm>
            <a:off x="361325" y="450150"/>
            <a:ext cx="0" cy="681300"/>
          </a:xfrm>
          <a:prstGeom prst="straightConnector1">
            <a:avLst/>
          </a:prstGeom>
          <a:noFill/>
          <a:ln cap="flat" cmpd="sng" w="9525">
            <a:solidFill>
              <a:srgbClr val="C2CF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7"/>
          <p:cNvSpPr/>
          <p:nvPr/>
        </p:nvSpPr>
        <p:spPr>
          <a:xfrm>
            <a:off x="7040925" y="370225"/>
            <a:ext cx="1699800" cy="309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8D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1400"/>
              <a:buFont typeface="Arial"/>
              <a:buNone/>
            </a:pPr>
            <a:r>
              <a:rPr lang="en-GB" sz="800">
                <a:solidFill>
                  <a:srgbClr val="C2CF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REPORTING STRUCTURE</a:t>
            </a:r>
            <a:endParaRPr sz="800">
              <a:solidFill>
                <a:srgbClr val="C2CF2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841275" y="2952506"/>
            <a:ext cx="69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Danny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2593200" y="2952506"/>
            <a:ext cx="69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Derrick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4230100" y="2952506"/>
            <a:ext cx="69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Yusuke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747113" y="2952506"/>
            <a:ext cx="69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Hana</a:t>
            </a:r>
            <a:endParaRPr sz="1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406350" y="4210650"/>
            <a:ext cx="8331300" cy="493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11480" y="1405890"/>
            <a:ext cx="1954500" cy="2571900"/>
          </a:xfrm>
          <a:prstGeom prst="rect">
            <a:avLst/>
          </a:prstGeom>
          <a:solidFill>
            <a:srgbClr val="EBEEC5"/>
          </a:solidFill>
          <a:ln cap="flat" cmpd="sng" w="952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8100000" dist="28575">
              <a:srgbClr val="0A1422">
                <a:alpha val="1607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11480" y="1405890"/>
            <a:ext cx="1954500" cy="618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630936" y="1693926"/>
            <a:ext cx="493800" cy="493800"/>
          </a:xfrm>
          <a:prstGeom prst="ellipse">
            <a:avLst/>
          </a:prstGeom>
          <a:solidFill>
            <a:srgbClr val="7479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30936" y="1693926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0" lang="en-GB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  <a:endParaRPr i="0" sz="20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17220" y="2366010"/>
            <a:ext cx="1543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NUMBER</a:t>
            </a:r>
            <a:endParaRPr i="0" sz="14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17220" y="2743200"/>
            <a:ext cx="1577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Where are we against today's target? Booked, gated, invoiced or collected — state the figure first.</a:t>
            </a:r>
            <a:endParaRPr i="0" sz="9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526007" y="1405890"/>
            <a:ext cx="1954500" cy="2571900"/>
          </a:xfrm>
          <a:prstGeom prst="rect">
            <a:avLst/>
          </a:prstGeom>
          <a:solidFill>
            <a:srgbClr val="EBEEC5"/>
          </a:solidFill>
          <a:ln cap="flat" cmpd="sng" w="952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8100000" dist="28575">
              <a:srgbClr val="0A1422">
                <a:alpha val="1607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2526007" y="1405890"/>
            <a:ext cx="1954500" cy="618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2745464" y="1693926"/>
            <a:ext cx="493800" cy="493800"/>
          </a:xfrm>
          <a:prstGeom prst="ellipse">
            <a:avLst/>
          </a:prstGeom>
          <a:solidFill>
            <a:srgbClr val="7479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2745464" y="1693926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0" lang="en-GB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  <a:endParaRPr i="0" sz="20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2731748" y="2366010"/>
            <a:ext cx="1543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GAP</a:t>
            </a:r>
            <a:endParaRPr i="0" sz="14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2731748" y="2661265"/>
            <a:ext cx="1577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What stands between us and the next dollar? Name the specific deal, deliverable or invoice.</a:t>
            </a:r>
            <a:endParaRPr i="0" sz="9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640534" y="1405890"/>
            <a:ext cx="1954500" cy="2571900"/>
          </a:xfrm>
          <a:prstGeom prst="rect">
            <a:avLst/>
          </a:prstGeom>
          <a:solidFill>
            <a:srgbClr val="EBEEC5"/>
          </a:solidFill>
          <a:ln cap="flat" cmpd="sng" w="952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8100000" dist="28575">
              <a:srgbClr val="0A1422">
                <a:alpha val="1607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640534" y="1405890"/>
            <a:ext cx="1954500" cy="618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859990" y="1693926"/>
            <a:ext cx="493800" cy="493800"/>
          </a:xfrm>
          <a:prstGeom prst="ellipse">
            <a:avLst/>
          </a:prstGeom>
          <a:solidFill>
            <a:srgbClr val="7479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4859990" y="1693926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0" lang="en-GB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endParaRPr i="0" sz="20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4846274" y="2366010"/>
            <a:ext cx="1543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MOVE</a:t>
            </a:r>
            <a:endParaRPr i="0" sz="14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4846274" y="2743200"/>
            <a:ext cx="1577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What single action closes the gap? One owner. One deadline. No verbs without a name attached.</a:t>
            </a:r>
            <a:endParaRPr i="0" sz="9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755062" y="1405890"/>
            <a:ext cx="1954500" cy="2571900"/>
          </a:xfrm>
          <a:prstGeom prst="rect">
            <a:avLst/>
          </a:prstGeom>
          <a:solidFill>
            <a:srgbClr val="EBEEC5"/>
          </a:solidFill>
          <a:ln cap="flat" cmpd="sng" w="952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66675" rotWithShape="0" algn="bl" dir="8100000" dist="28575">
              <a:srgbClr val="0A1422">
                <a:alpha val="1607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755062" y="1405890"/>
            <a:ext cx="1954500" cy="618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6974518" y="1693926"/>
            <a:ext cx="493800" cy="493800"/>
          </a:xfrm>
          <a:prstGeom prst="ellipse">
            <a:avLst/>
          </a:prstGeom>
          <a:solidFill>
            <a:srgbClr val="7479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974518" y="1693926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i="0" lang="en-GB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  <a:endParaRPr i="0" sz="20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960802" y="2366010"/>
            <a:ext cx="1543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BLOCKER</a:t>
            </a:r>
            <a:endParaRPr i="0" sz="14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960802" y="2661265"/>
            <a:ext cx="1577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What's in the way, and who removes it today? Escalate now — not at the next weekly.</a:t>
            </a:r>
            <a:endParaRPr i="0" sz="9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11480" y="4311175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900"/>
              <a:buFont typeface="Calibri"/>
              <a:buNone/>
            </a:pPr>
            <a:r>
              <a:rPr lang="en-GB" sz="11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Rule of thumb: if the first sentence isn't a number, the stand-up hasn't started.</a:t>
            </a:r>
            <a:endParaRPr sz="11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361321" y="400900"/>
            <a:ext cx="6124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Every stand-up opens the same way</a:t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361325" y="748450"/>
            <a:ext cx="6599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Four questions, in order. The number always comes first — gut feel and status updates come last.</a:t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4" name="Google Shape;204;p18"/>
          <p:cNvCxnSpPr/>
          <p:nvPr/>
        </p:nvCxnSpPr>
        <p:spPr>
          <a:xfrm>
            <a:off x="361325" y="450260"/>
            <a:ext cx="0" cy="615300"/>
          </a:xfrm>
          <a:prstGeom prst="straightConnector1">
            <a:avLst/>
          </a:prstGeom>
          <a:noFill/>
          <a:ln cap="flat" cmpd="sng" w="9525">
            <a:solidFill>
              <a:srgbClr val="C2CF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18"/>
          <p:cNvSpPr/>
          <p:nvPr/>
        </p:nvSpPr>
        <p:spPr>
          <a:xfrm>
            <a:off x="7300475" y="370225"/>
            <a:ext cx="1440300" cy="309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8D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1400"/>
              <a:buFont typeface="Arial"/>
              <a:buNone/>
            </a:pPr>
            <a:r>
              <a:rPr lang="en-GB" sz="800">
                <a:solidFill>
                  <a:srgbClr val="C2CF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STAND-UP FRAME</a:t>
            </a:r>
            <a:endParaRPr sz="800">
              <a:solidFill>
                <a:srgbClr val="C2CF2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09575" y="4210650"/>
            <a:ext cx="26100" cy="493800"/>
          </a:xfrm>
          <a:prstGeom prst="rect">
            <a:avLst/>
          </a:prstGeom>
          <a:solidFill>
            <a:srgbClr val="C8D2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19"/>
          <p:cNvGraphicFramePr/>
          <p:nvPr/>
        </p:nvGraphicFramePr>
        <p:xfrm>
          <a:off x="411480" y="1268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{47AE24F4-7540-4D3E-8FC1-E0C8FFE30431}</a:tableStyleId>
              </a:tblPr>
              <a:tblGrid>
                <a:gridCol w="3154700"/>
                <a:gridCol w="5143500"/>
              </a:tblGrid>
              <a:tr h="3429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GB" sz="1100">
                          <a:solidFill>
                            <a:srgbClr val="FFFFF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Company Target by end of 2026 - $800k MRR, $10m ARR</a:t>
                      </a:r>
                      <a:endParaRPr sz="1100" u="none" cap="none" strike="noStrike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952"/>
                    </a:solidFill>
                  </a:tcPr>
                </a:tc>
                <a:tc hMerge="1"/>
              </a:tr>
              <a:tr h="63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000"/>
                        <a:buFont typeface="Georgia"/>
                        <a:buNone/>
                      </a:pPr>
                      <a: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 · THE NUMBER</a:t>
                      </a:r>
                      <a:b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</a:br>
                      <a:r>
                        <a:rPr i="1" lang="en-GB" sz="9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today vs target</a:t>
                      </a:r>
                      <a:endParaRPr sz="10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/>
                        <a:t>$297k/m (Tesla+MUFG+APS+Gap) vs $450k target by end of June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/>
                        <a:t>66% to month-end target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/>
                        <a:t>37% to year-end target</a:t>
                      </a:r>
                      <a:endParaRPr sz="900"/>
                    </a:p>
                  </a:txBody>
                  <a:tcPr marT="57150" marB="57150" marR="76200" marL="7620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000"/>
                        <a:buFont typeface="Georgia"/>
                        <a:buNone/>
                      </a:pPr>
                      <a: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 · THE GAP</a:t>
                      </a:r>
                      <a:b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</a:br>
                      <a:r>
                        <a:rPr i="1" lang="en-GB" sz="9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what's between us &amp; the next dollar</a:t>
                      </a:r>
                      <a:endParaRPr sz="10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/>
                        <a:t>$35/m (Tesla) + $100k/m (Gap) + $10k/m (NTTD) + $30k/m (MUFG)</a:t>
                      </a:r>
                      <a:endParaRPr sz="900" u="none" cap="none" strike="noStrike"/>
                    </a:p>
                  </a:txBody>
                  <a:tcPr marT="57150" marB="57150" marR="76200" marL="7620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000"/>
                        <a:buFont typeface="Georgia"/>
                        <a:buNone/>
                      </a:pPr>
                      <a: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 · THE MOVE</a:t>
                      </a:r>
                      <a:b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</a:br>
                      <a:r>
                        <a:rPr i="1" lang="en-GB" sz="9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action  ·  owner  ·  by when</a:t>
                      </a:r>
                      <a:endParaRPr sz="10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57150" marB="57150" marR="76200" marL="7620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1000"/>
                        <a:buFont typeface="Georgia"/>
                        <a:buNone/>
                      </a:pPr>
                      <a: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 · THE BLOCKER</a:t>
                      </a:r>
                      <a:br>
                        <a:rPr b="1" lang="en-GB" sz="11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</a:br>
                      <a:r>
                        <a:rPr i="1" lang="en-GB" sz="9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what's in the way  ·  who removes it</a:t>
                      </a:r>
                      <a:endParaRPr sz="10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57150" marB="57150" marR="95250" marL="9525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/>
                        <a:t>Sales Team: Not enough pipeline + not enough sales team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/>
                        <a:t>Pre-Sales Team: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n-GB" sz="900"/>
                        <a:t>Delivery Team: </a:t>
                      </a:r>
                      <a:endParaRPr sz="900"/>
                    </a:p>
                  </a:txBody>
                  <a:tcPr marT="57150" marB="57150" marR="76200" marL="76200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9"/>
          <p:cNvSpPr/>
          <p:nvPr/>
        </p:nvSpPr>
        <p:spPr>
          <a:xfrm>
            <a:off x="411480" y="4491990"/>
            <a:ext cx="82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5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5B667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STATUS KEY:</a:t>
            </a:r>
            <a:endParaRPr i="0" sz="8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268730" y="4526280"/>
            <a:ext cx="137400" cy="137400"/>
          </a:xfrm>
          <a:prstGeom prst="ellipse">
            <a:avLst/>
          </a:prstGeom>
          <a:solidFill>
            <a:srgbClr val="0F8A6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1460754" y="4491990"/>
            <a:ext cx="89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800"/>
              <a:buFont typeface="Calibri"/>
              <a:buNone/>
            </a:pPr>
            <a:r>
              <a:rPr i="0" lang="en-GB" sz="800" u="none" cap="none" strike="noStrike">
                <a:solidFill>
                  <a:srgbClr val="1F2A3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On track</a:t>
            </a:r>
            <a:endParaRPr i="0" sz="8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2434590" y="4526280"/>
            <a:ext cx="137400" cy="1374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2626614" y="4491990"/>
            <a:ext cx="89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800"/>
              <a:buFont typeface="Calibri"/>
              <a:buNone/>
            </a:pPr>
            <a:r>
              <a:rPr i="0" lang="en-GB" sz="800" u="none" cap="none" strike="noStrike">
                <a:solidFill>
                  <a:srgbClr val="1F2A3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Watch</a:t>
            </a:r>
            <a:endParaRPr i="0" sz="8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600450" y="4526280"/>
            <a:ext cx="137400" cy="137400"/>
          </a:xfrm>
          <a:prstGeom prst="ellipse">
            <a:avLst/>
          </a:prstGeom>
          <a:solidFill>
            <a:srgbClr val="B23B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3792474" y="4491990"/>
            <a:ext cx="89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800"/>
              <a:buFont typeface="Calibri"/>
              <a:buNone/>
            </a:pPr>
            <a:r>
              <a:rPr i="0" lang="en-GB" sz="800" u="none" cap="none" strike="noStrike">
                <a:solidFill>
                  <a:srgbClr val="1F2A3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At risk</a:t>
            </a:r>
            <a:endParaRPr i="0" sz="8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361321" y="400900"/>
            <a:ext cx="6124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Company Target - $10m ARR -37% </a:t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361325" y="748450"/>
            <a:ext cx="6047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22" name="Google Shape;222;p19"/>
          <p:cNvCxnSpPr/>
          <p:nvPr/>
        </p:nvCxnSpPr>
        <p:spPr>
          <a:xfrm>
            <a:off x="361325" y="450250"/>
            <a:ext cx="0" cy="486600"/>
          </a:xfrm>
          <a:prstGeom prst="straightConnector1">
            <a:avLst/>
          </a:prstGeom>
          <a:noFill/>
          <a:ln cap="flat" cmpd="sng" w="9525">
            <a:solidFill>
              <a:srgbClr val="C2CF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19"/>
          <p:cNvSpPr/>
          <p:nvPr/>
        </p:nvSpPr>
        <p:spPr>
          <a:xfrm>
            <a:off x="6408725" y="370225"/>
            <a:ext cx="2332200" cy="309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8D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1400"/>
              <a:buFont typeface="Arial"/>
              <a:buNone/>
            </a:pPr>
            <a:r>
              <a:rPr lang="en-GB" sz="800">
                <a:solidFill>
                  <a:srgbClr val="C2CF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WEEKLY STAND-UP  ·  FILL-IN TEMPLATE</a:t>
            </a:r>
            <a:endParaRPr sz="800">
              <a:solidFill>
                <a:srgbClr val="C2CF2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/>
          <p:nvPr/>
        </p:nvSpPr>
        <p:spPr>
          <a:xfrm>
            <a:off x="411480" y="1165860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t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1.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NUMBER  —  booked revenue today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11480" y="1467612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Revenue booked MTD vs target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566160" y="1467612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</a:t>
            </a: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$332k/m today   ·   $450k/m target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·   +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$</a:t>
            </a: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 </a:t>
            </a: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month-on-month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11480" y="1824228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t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2. C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LOSING THIS WEEK  —  what's needed to close each deal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233" name="Google Shape;233;p20"/>
          <p:cNvGraphicFramePr/>
          <p:nvPr/>
        </p:nvGraphicFramePr>
        <p:xfrm>
          <a:off x="411480" y="2125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{47AE24F4-7540-4D3E-8FC1-E0C8FFE30431}</a:tableStyleId>
              </a:tblPr>
              <a:tblGrid>
                <a:gridCol w="1783100"/>
                <a:gridCol w="822950"/>
                <a:gridCol w="685800"/>
                <a:gridCol w="891550"/>
                <a:gridCol w="2743200"/>
                <a:gridCol w="1371600"/>
              </a:tblGrid>
              <a:tr h="19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Deal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Value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Prob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Close by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What's needed (action)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Owner · when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</a:tr>
              <a:tr h="22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Tesla contract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255k+$35k/m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95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10/6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SOW addendum sent, chasing Chris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Danny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→ 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Thu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Gap expansion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100k/m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0%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11/6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SOW sent, need to chase Mark/Brian to close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James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→ 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Thu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MUFG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$30k/m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30%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20/6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Pushing Ben to respond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Danny → Thu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NTT Data</a:t>
                      </a:r>
                      <a:endParaRPr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$10k/m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60%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30/6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Technical know-how answered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Ryo -&gt; Thu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0"/>
          <p:cNvSpPr/>
          <p:nvPr/>
        </p:nvSpPr>
        <p:spPr>
          <a:xfrm>
            <a:off x="411480" y="3524920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t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3.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PIPELINE ADDED  —  net-new only 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11480" y="3826672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New qualified pipeline this week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566160" y="3826672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Whitehawk Capital - Private Credit backend workflows</a:t>
            </a:r>
            <a:endParaRPr i="1" sz="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Mastercard Bahrain - KFH AI Chatbot document processing</a:t>
            </a:r>
            <a:endParaRPr i="1" sz="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11480" y="4183288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t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4.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BLOCKERS / ASKS  —  what's in the way &amp; who removes it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11480" y="4485040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Blocker + owner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566160" y="4485040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Hiring 2 more sales person to expand the pipeline</a:t>
            </a:r>
            <a:endParaRPr i="1" sz="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Questions about data security and how we handle the models always come up first and more.</a:t>
            </a:r>
            <a:endParaRPr i="1" sz="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61321" y="400900"/>
            <a:ext cx="6124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Sales &amp; BD </a:t>
            </a: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— stand-up</a:t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61325" y="748450"/>
            <a:ext cx="6599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Lead with booked revenue</a:t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361325" y="450260"/>
            <a:ext cx="0" cy="615300"/>
          </a:xfrm>
          <a:prstGeom prst="straightConnector1">
            <a:avLst/>
          </a:prstGeom>
          <a:noFill/>
          <a:ln cap="flat" cmpd="sng" w="9525">
            <a:solidFill>
              <a:srgbClr val="C2CF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0"/>
          <p:cNvSpPr/>
          <p:nvPr/>
        </p:nvSpPr>
        <p:spPr>
          <a:xfrm>
            <a:off x="6573975" y="370225"/>
            <a:ext cx="2166600" cy="309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8D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1400"/>
              <a:buFont typeface="Arial"/>
              <a:buNone/>
            </a:pPr>
            <a:r>
              <a:rPr lang="en-GB" sz="800">
                <a:solidFill>
                  <a:srgbClr val="C2CF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STAND-UP TEMPLATE  ·  SALES &amp; BD</a:t>
            </a:r>
            <a:endParaRPr sz="800">
              <a:solidFill>
                <a:srgbClr val="C2CF2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/>
          <p:nvPr/>
        </p:nvSpPr>
        <p:spPr>
          <a:xfrm>
            <a:off x="411480" y="1165860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t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1.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NUMBER  —  booked revenue today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11480" y="1467612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Invoice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sent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MTD vs </a:t>
            </a: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signed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566160" y="1467612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$332k/m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today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·   </a:t>
            </a: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$450k/m target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·   +$</a:t>
            </a: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100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 expected from Gap </a:t>
            </a: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 July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11480" y="1824228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t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2. EXISTING CLIENT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— what are the commitments  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253" name="Google Shape;253;p21"/>
          <p:cNvGraphicFramePr/>
          <p:nvPr/>
        </p:nvGraphicFramePr>
        <p:xfrm>
          <a:off x="411480" y="2125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{47AE24F4-7540-4D3E-8FC1-E0C8FFE30431}</a:tableStyleId>
              </a:tblPr>
              <a:tblGrid>
                <a:gridCol w="1943775"/>
                <a:gridCol w="897100"/>
                <a:gridCol w="971875"/>
                <a:gridCol w="2990375"/>
                <a:gridCol w="1495175"/>
              </a:tblGrid>
              <a:tr h="27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Client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Invoice </a:t>
                      </a:r>
                      <a:r>
                        <a:rPr b="1" lang="en-GB" sz="8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$/m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Status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What's needed (action)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Owner · when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</a:tr>
              <a:tr h="21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Tesla - Val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$70k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Fri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Final SOW sign-off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Bill → today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Tesla - Ops AI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35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Wed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Security review pack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Max → Tue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Tesla - Lab + Platform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85k+$100k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Month-end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Exec-sponsor intro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Danny → Thu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MUFG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$11k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On-track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APS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$13k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On-track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Gap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$18.3k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On-track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21"/>
          <p:cNvSpPr txBox="1"/>
          <p:nvPr/>
        </p:nvSpPr>
        <p:spPr>
          <a:xfrm>
            <a:off x="361321" y="400900"/>
            <a:ext cx="6124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Pre-Sales</a:t>
            </a: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— stand-up</a:t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61325" y="748450"/>
            <a:ext cx="6599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Lead with booked revenue</a:t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6" name="Google Shape;256;p21"/>
          <p:cNvCxnSpPr/>
          <p:nvPr/>
        </p:nvCxnSpPr>
        <p:spPr>
          <a:xfrm>
            <a:off x="361325" y="450260"/>
            <a:ext cx="0" cy="615300"/>
          </a:xfrm>
          <a:prstGeom prst="straightConnector1">
            <a:avLst/>
          </a:prstGeom>
          <a:noFill/>
          <a:ln cap="flat" cmpd="sng" w="9525">
            <a:solidFill>
              <a:srgbClr val="C2CF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1"/>
          <p:cNvSpPr/>
          <p:nvPr/>
        </p:nvSpPr>
        <p:spPr>
          <a:xfrm>
            <a:off x="6573975" y="370225"/>
            <a:ext cx="2166600" cy="309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8D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1400"/>
              <a:buFont typeface="Arial"/>
              <a:buNone/>
            </a:pPr>
            <a:r>
              <a:rPr lang="en-GB" sz="800">
                <a:solidFill>
                  <a:srgbClr val="C2CF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STAND-UP TEMPLATE  ·  PRE-SALES</a:t>
            </a:r>
            <a:endParaRPr sz="800">
              <a:solidFill>
                <a:srgbClr val="C2CF2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11480" y="3683242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3.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OBSTACLES  —  what's blocking on-time delivery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11480" y="3984994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Obstacle + revenue impact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566160" y="3984994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Onboarded 5 members this week, another 1 on 22nd June - Team coordination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11480" y="4341610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4.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ASKS  —  what we need &amp; who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11480" y="4643362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Ask + owner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566160" y="4643362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i="1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e.g.  Bill to escalate the Toyota test-data request with the client today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411480" y="1165860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1.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NUMBER  —  revenue waiting on us to deliver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11480" y="1467612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Revenue gated on delivery (month)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3566160" y="1467612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i="1" lang="en-GB" sz="9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e.g.  $340K across 3 milestones   ·   $0 of it invoiced yet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11480" y="1824228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2.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INVOICE TRIGGERS  —  what we must ship to bill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273" name="Google Shape;273;p22"/>
          <p:cNvGraphicFramePr/>
          <p:nvPr/>
        </p:nvGraphicFramePr>
        <p:xfrm>
          <a:off x="411480" y="2125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{47AE24F4-7540-4D3E-8FC1-E0C8FFE30431}</a:tableStyleId>
              </a:tblPr>
              <a:tblGrid>
                <a:gridCol w="2194550"/>
                <a:gridCol w="1097300"/>
                <a:gridCol w="891550"/>
                <a:gridCol w="822950"/>
                <a:gridCol w="1371600"/>
                <a:gridCol w="1920250"/>
              </a:tblGrid>
              <a:tr h="30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Deliverable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Client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Invoice $/m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Due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Status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33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Owner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9"/>
                    </a:solidFill>
                  </a:tcPr>
                </a:tc>
              </a:tr>
              <a:tr h="1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Val ………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Tesla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70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Fri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E42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 track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5D5D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Ops AI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Tesla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35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Tue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B3B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At risk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Gap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Gap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18.3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K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Mon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E42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 track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MUFG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MUFG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</a:t>
                      </a: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11</a:t>
                      </a: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Mon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E42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 track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675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APS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APS</a:t>
                      </a:r>
                      <a:endParaRPr i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$13k</a:t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On track</a:t>
                      </a:r>
                      <a:endParaRPr b="1" sz="9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19050" marB="19050" marR="66675" marL="66675" anchor="ctr">
                    <a:lnL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22"/>
          <p:cNvSpPr/>
          <p:nvPr/>
        </p:nvSpPr>
        <p:spPr>
          <a:xfrm>
            <a:off x="411480" y="3683242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3.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OBSTACLES  —  what's blocking on-time delivery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411480" y="3984994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Obstacle + revenue impact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3566160" y="3984994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</a:t>
            </a:r>
            <a:r>
              <a:rPr i="1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e.g.  Toyota client test-data is 3 days late — slips the $140K invoice into next month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11480" y="4341610"/>
            <a:ext cx="8298300" cy="274200"/>
          </a:xfrm>
          <a:prstGeom prst="rect">
            <a:avLst/>
          </a:prstGeom>
          <a:solidFill>
            <a:srgbClr val="9FA742"/>
          </a:solidFill>
          <a:ln>
            <a:noFill/>
          </a:ln>
        </p:spPr>
        <p:txBody>
          <a:bodyPr anchorCtr="0" anchor="ctr" bIns="0" lIns="0" spcFirstLastPara="1" rIns="114300" wrap="square" tIns="114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lang="en-GB" sz="9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4. </a:t>
            </a:r>
            <a:r>
              <a:rPr b="1" i="0" lang="en-GB" sz="9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ASKS  —  what we need &amp; who</a:t>
            </a:r>
            <a:endParaRPr i="0" sz="9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11480" y="4643362"/>
            <a:ext cx="3154800" cy="315600"/>
          </a:xfrm>
          <a:prstGeom prst="rect">
            <a:avLst/>
          </a:prstGeom>
          <a:solidFill>
            <a:srgbClr val="E9E9E9"/>
          </a:solidFill>
          <a:ln cap="flat" cmpd="sng" w="715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A"/>
              </a:buClr>
              <a:buSzPts val="800"/>
              <a:buFont typeface="Calibri"/>
              <a:buNone/>
            </a:pPr>
            <a:r>
              <a:rPr b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b="1" i="0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Ask + owner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3566160" y="4643362"/>
            <a:ext cx="5143500" cy="315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1143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E42"/>
              </a:buClr>
              <a:buSzPts val="800"/>
              <a:buFont typeface="Calibri"/>
              <a:buNone/>
            </a:pPr>
            <a:r>
              <a:rPr i="1" lang="en-GB" sz="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</a:t>
            </a:r>
            <a:r>
              <a:rPr i="1" lang="en-GB" sz="8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e.g.  Bill to escalate the Toyota test-data request with the client today</a:t>
            </a:r>
            <a:endParaRPr i="0" sz="800" u="none" cap="none" strike="noStrik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361321" y="400900"/>
            <a:ext cx="6124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656C1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Delivery &amp; Engineering — stand-up</a:t>
            </a:r>
            <a:endParaRPr sz="2100">
              <a:solidFill>
                <a:srgbClr val="656C1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361325" y="748450"/>
            <a:ext cx="6047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56C18"/>
                </a:solidFill>
                <a:latin typeface="Poppins"/>
                <a:ea typeface="Poppins"/>
                <a:cs typeface="Poppins"/>
                <a:sym typeface="Poppins"/>
              </a:rPr>
              <a:t>Lead with the revenue you're holding. Every deliverable maps to an invoice. Flag what slips the bill.</a:t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56C1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82" name="Google Shape;282;p22"/>
          <p:cNvCxnSpPr/>
          <p:nvPr/>
        </p:nvCxnSpPr>
        <p:spPr>
          <a:xfrm>
            <a:off x="361325" y="450260"/>
            <a:ext cx="0" cy="615300"/>
          </a:xfrm>
          <a:prstGeom prst="straightConnector1">
            <a:avLst/>
          </a:prstGeom>
          <a:noFill/>
          <a:ln cap="flat" cmpd="sng" w="9525">
            <a:solidFill>
              <a:srgbClr val="C2CF2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22"/>
          <p:cNvSpPr/>
          <p:nvPr/>
        </p:nvSpPr>
        <p:spPr>
          <a:xfrm>
            <a:off x="5901825" y="370225"/>
            <a:ext cx="2838900" cy="309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C8D2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1400"/>
              <a:buFont typeface="Arial"/>
              <a:buNone/>
            </a:pPr>
            <a:r>
              <a:rPr lang="en-GB" sz="800">
                <a:solidFill>
                  <a:srgbClr val="C2CF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STAND-UP TEMPLATE  ·  PRODUCTION &amp; DELIVERY</a:t>
            </a:r>
            <a:endParaRPr sz="800">
              <a:solidFill>
                <a:srgbClr val="C2CF2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