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G/Fwo2ySM6q1P/xunaTtXJNid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1CBAC2-1BCF-458B-80DD-430BE508A702}">
  <a:tblStyle styleId="{F41CBAC2-1BCF-458B-80DD-430BE508A7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3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2011680"/>
            <a:ext cx="109728" cy="1508760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41248" y="14173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NEXUS FRONTIER TECH  ·  OPERATING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8745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Revenue-First Operating Cadence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41248" y="288036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A new reporting &amp; stand-up model. Every meeting opens with the number 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then the gap, the move, and the blocker. In that order.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41248" y="51389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19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E8198"/>
                </a:solidFill>
                <a:latin typeface="Calibri"/>
                <a:ea typeface="Calibri"/>
                <a:cs typeface="Calibri"/>
                <a:sym typeface="Calibri"/>
              </a:rPr>
              <a:t>ONE CHAIN OF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1248" y="54406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r>
              <a:rPr b="1" i="0" lang="en-US" sz="150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   ›   </a:t>
            </a:r>
            <a:r>
              <a:rPr b="1" i="0" lang="en-US" sz="15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Commitment</a:t>
            </a:r>
            <a:r>
              <a:rPr b="1" i="0" lang="en-US" sz="150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   ›   </a:t>
            </a:r>
            <a:r>
              <a:rPr b="1" i="0" lang="en-US" sz="15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r>
              <a:rPr b="1" i="0" lang="en-US" sz="150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   ›   </a:t>
            </a:r>
            <a:r>
              <a:rPr b="1" i="0" lang="en-US" sz="15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b="1" i="0" lang="en-US" sz="150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   ›   Cash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749808" y="402336"/>
            <a:ext cx="10863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THE REPORTING 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49808" y="621792"/>
            <a:ext cx="10863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One chain of value — every team owns a segment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Each team reports against the part of the chain it controls. It all rolls up to a single company number.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874520"/>
            <a:ext cx="1965960" cy="14173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8640" y="1874520"/>
            <a:ext cx="73152" cy="14173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13232" y="20208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8A6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3232" y="22951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13232" y="271576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Qualified opportunities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456432"/>
            <a:ext cx="1965960" cy="384048"/>
          </a:xfrm>
          <a:prstGeom prst="roundRect">
            <a:avLst>
              <a:gd fmla="val 14286" name="adj"/>
            </a:avLst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8640" y="345643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/ 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2532888" y="2583180"/>
            <a:ext cx="272034" cy="0"/>
          </a:xfrm>
          <a:prstGeom prst="straightConnector1">
            <a:avLst/>
          </a:prstGeom>
          <a:noFill/>
          <a:ln cap="flat" cmpd="sng" w="28575">
            <a:solidFill>
              <a:srgbClr val="0F8A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" name="Google Shape;39;p2"/>
          <p:cNvSpPr/>
          <p:nvPr/>
        </p:nvSpPr>
        <p:spPr>
          <a:xfrm>
            <a:off x="2823210" y="1874520"/>
            <a:ext cx="1965960" cy="14173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823210" y="1874520"/>
            <a:ext cx="73152" cy="14173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987802" y="20208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8A6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987802" y="22951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Commitment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987802" y="271576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Signed &amp; committed bookings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823210" y="3456432"/>
            <a:ext cx="1965960" cy="384048"/>
          </a:xfrm>
          <a:prstGeom prst="roundRect">
            <a:avLst>
              <a:gd fmla="val 14286" name="adj"/>
            </a:avLst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823210" y="345643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Pre-Sales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4807458" y="2583180"/>
            <a:ext cx="272034" cy="0"/>
          </a:xfrm>
          <a:prstGeom prst="straightConnector1">
            <a:avLst/>
          </a:prstGeom>
          <a:noFill/>
          <a:ln cap="flat" cmpd="sng" w="28575">
            <a:solidFill>
              <a:srgbClr val="0F8A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" name="Google Shape;47;p2"/>
          <p:cNvSpPr/>
          <p:nvPr/>
        </p:nvSpPr>
        <p:spPr>
          <a:xfrm>
            <a:off x="5097780" y="1874520"/>
            <a:ext cx="1965960" cy="14173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097780" y="1874520"/>
            <a:ext cx="73152" cy="14173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262372" y="20208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8A6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262372" y="22951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Delivery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62372" y="271576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Build &amp; ship the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97780" y="3456432"/>
            <a:ext cx="1965960" cy="384048"/>
          </a:xfrm>
          <a:prstGeom prst="roundRect">
            <a:avLst>
              <a:gd fmla="val 14286" name="adj"/>
            </a:avLst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097780" y="345643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7082028" y="2583180"/>
            <a:ext cx="272034" cy="0"/>
          </a:xfrm>
          <a:prstGeom prst="straightConnector1">
            <a:avLst/>
          </a:prstGeom>
          <a:noFill/>
          <a:ln cap="flat" cmpd="sng" w="28575">
            <a:solidFill>
              <a:srgbClr val="0F8A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2"/>
          <p:cNvSpPr/>
          <p:nvPr/>
        </p:nvSpPr>
        <p:spPr>
          <a:xfrm>
            <a:off x="7372350" y="1874520"/>
            <a:ext cx="1965960" cy="14173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372350" y="1874520"/>
            <a:ext cx="73152" cy="14173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536942" y="20208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8A6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536942" y="22951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Invoice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536942" y="271576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Trigger the bill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372350" y="3456432"/>
            <a:ext cx="1965960" cy="384048"/>
          </a:xfrm>
          <a:prstGeom prst="roundRect">
            <a:avLst>
              <a:gd fmla="val 14286" name="adj"/>
            </a:avLst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372350" y="345643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Sales/Pre-Sales/Finance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9356598" y="2583180"/>
            <a:ext cx="272034" cy="0"/>
          </a:xfrm>
          <a:prstGeom prst="straightConnector1">
            <a:avLst/>
          </a:prstGeom>
          <a:noFill/>
          <a:ln cap="flat" cmpd="sng" w="28575">
            <a:solidFill>
              <a:srgbClr val="0F8A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2"/>
          <p:cNvSpPr/>
          <p:nvPr/>
        </p:nvSpPr>
        <p:spPr>
          <a:xfrm>
            <a:off x="9646920" y="1874520"/>
            <a:ext cx="1965960" cy="14173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9646920" y="1874520"/>
            <a:ext cx="73152" cy="1417320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9811512" y="202082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8A6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811512" y="22951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Cash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811512" y="271576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Collect the money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646920" y="3456432"/>
            <a:ext cx="1965960" cy="384048"/>
          </a:xfrm>
          <a:prstGeom prst="roundRect">
            <a:avLst>
              <a:gd fmla="val 14286" name="adj"/>
            </a:avLst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9646920" y="345643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48640" y="414223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All segments roll up to one number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48640" y="4526280"/>
            <a:ext cx="11064240" cy="868680"/>
          </a:xfrm>
          <a:prstGeom prst="rect">
            <a:avLst/>
          </a:prstGeom>
          <a:solidFill>
            <a:srgbClr val="14233A"/>
          </a:solidFill>
          <a:ln>
            <a:noFill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48640" y="4526280"/>
            <a:ext cx="91440" cy="868680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68680" y="452628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COMPANY REVENUE NUMBER</a:t>
            </a:r>
            <a:r>
              <a:rPr b="0" i="1" lang="en-US" sz="1300" u="none" cap="none" strike="noStrike">
                <a:solidFill>
                  <a:srgbClr val="CFE0F0"/>
                </a:solidFill>
                <a:latin typeface="Calibri"/>
                <a:ea typeface="Calibri"/>
                <a:cs typeface="Calibri"/>
                <a:sym typeface="Calibri"/>
              </a:rPr>
              <a:t>    the first line of every leadership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Daily team stand-ups feed the management report. Every layer leads with revenue — booked, gated, invoiced, collected.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49808" y="402336"/>
            <a:ext cx="10863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THE STAND-UP FRAME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49808" y="621792"/>
            <a:ext cx="10863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Every stand-up opens the same way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Four questions, in order. The number always comes first — gut feel and status updates come last (if at all).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1874520"/>
            <a:ext cx="2606040" cy="3429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48640" y="1874520"/>
            <a:ext cx="2606040" cy="82296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41248" y="2258568"/>
            <a:ext cx="658368" cy="658368"/>
          </a:xfrm>
          <a:prstGeom prst="ellipse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41248" y="22585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22960" y="315468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THE 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22960" y="365760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Where are we against today's target? Booked, gated, invoiced or collected — state the figure first.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68010" y="1874520"/>
            <a:ext cx="2606040" cy="3429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368010" y="1874520"/>
            <a:ext cx="2606040" cy="82296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660618" y="2258568"/>
            <a:ext cx="658368" cy="658368"/>
          </a:xfrm>
          <a:prstGeom prst="ellipse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660618" y="22585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42330" y="315468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THE GAP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42330" y="365760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What stands between us and the next dollar? Name the specific deal, deliverable or invoice.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87379" y="1874520"/>
            <a:ext cx="2606040" cy="3429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187379" y="1874520"/>
            <a:ext cx="2606040" cy="82296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479987" y="2258568"/>
            <a:ext cx="658368" cy="658368"/>
          </a:xfrm>
          <a:prstGeom prst="ellipse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479987" y="22585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461699" y="315468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THE MOVE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461699" y="365760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What single action closes the gap? One owner. One deadline. No verbs without a name attached.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006749" y="1874520"/>
            <a:ext cx="2606040" cy="3429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A1422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006749" y="1874520"/>
            <a:ext cx="2606040" cy="82296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299357" y="2258568"/>
            <a:ext cx="658368" cy="658368"/>
          </a:xfrm>
          <a:prstGeom prst="ellipse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299357" y="22585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281069" y="315468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THE BLOCKER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281069" y="365760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What's in the way, and who removes it today? Escalate now — not at the next weekly.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Rule of thumb: if the first sentence isn't a number, the stand-up hasn't started.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49808" y="402336"/>
            <a:ext cx="10863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STAND-UP TEMPLATE  ·  SALES &amp; BD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49808" y="621792"/>
            <a:ext cx="10863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Sales &amp; BD — stand-up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Lead with booked revenue. Replace the grey examples with today's figures. Duplicate this slide each day.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   ·   THE NUMBER  —  booked revenue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48640" y="1956816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Revenue booked MTD vs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54880" y="1956816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$420K / $600K   ·   70% to plan   ·   +$85K week-on-week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   ·   CLOSING THIS WEEK  —  what's needed to close each deal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4"/>
          <p:cNvGraphicFramePr/>
          <p:nvPr/>
        </p:nvGraphicFramePr>
        <p:xfrm>
          <a:off x="54864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{F41CBAC2-1BCF-458B-80DD-430BE508A702}</a:tableStyleId>
              </a:tblPr>
              <a:tblGrid>
                <a:gridCol w="2377450"/>
                <a:gridCol w="1097275"/>
                <a:gridCol w="914400"/>
                <a:gridCol w="1188725"/>
                <a:gridCol w="3657600"/>
                <a:gridCol w="18288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 by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What's needed (action)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· when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HSBC — Doc-AI expansion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SOW sign-off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Bill → today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MUFG — pilot → production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$250K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review pack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→ Tue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Schroders — NEW LOGO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Exec-sponsor intro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Danny → Thu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4"/>
          <p:cNvSpPr/>
          <p:nvPr/>
        </p:nvSpPr>
        <p:spPr>
          <a:xfrm>
            <a:off x="548640" y="4315968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  ·   PIPELINE ADDED  —  net-new only (excludes Motive / BetaNXT expansion)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8640" y="4718304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New qualified pipeline this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54880" y="4718304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2 new logos   ·   $310K added   ·   all outside the existing key-account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5193792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   ·   BLOCKERS / ASKS  —  what's in the way &amp; who removes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48640" y="5596128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Blocker + 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54880" y="5596128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MUFG security questionnaire stalled — need 1 hr with CTO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49808" y="402336"/>
            <a:ext cx="10863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STAND-UP TEMPLATE  ·  PRODUCTION &amp; 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49808" y="621792"/>
            <a:ext cx="10863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Delivery</a:t>
            </a: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 &amp; </a:t>
            </a:r>
            <a:r>
              <a:rPr b="1" lang="en-US" sz="2700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Engineering</a:t>
            </a: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 — stand-up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Lead with the revenue you're holding. Every deliverable maps to an invoice. Flag what slips the bill.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   ·   THE NUMBER  —  revenue waiting on us to deliver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1956816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Revenue gated on delivery (month)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754880" y="1956816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$340K across 3 milestones   ·   $0 of it invoiced yet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   ·   INVOICE TRIGGERS  —  what we must ship to bill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5"/>
          <p:cNvGraphicFramePr/>
          <p:nvPr/>
        </p:nvGraphicFramePr>
        <p:xfrm>
          <a:off x="54864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{F41CBAC2-1BCF-458B-80DD-430BE508A702}</a:tableStyleId>
              </a:tblPr>
              <a:tblGrid>
                <a:gridCol w="2926075"/>
                <a:gridCol w="1463050"/>
                <a:gridCol w="1188725"/>
                <a:gridCol w="1097275"/>
                <a:gridCol w="1828800"/>
                <a:gridCol w="25603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Deliverable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 $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42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9E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Phase-2 model handoff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HSBC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E4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A5E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track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OCR module release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Toyota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B3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2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risk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Mizuno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e.g.  UAT sign-off pack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UBS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$80K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E4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A5E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track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88900" marL="889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5"/>
          <p:cNvSpPr/>
          <p:nvPr/>
        </p:nvSpPr>
        <p:spPr>
          <a:xfrm>
            <a:off x="548640" y="4315968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  ·   OBSTACLES  —  what's blocking on-time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4718304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Obstacle + revenue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0" y="4718304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Toyota client test-data is 3 days late — slips the $140K invoice into next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" y="5193792"/>
            <a:ext cx="11064240" cy="36576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txBody>
          <a:bodyPr anchorCtr="0" anchor="ctr" bIns="0" lIns="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   ·   ASKS  —  what we need &amp; who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5596128"/>
            <a:ext cx="4206240" cy="420624"/>
          </a:xfrm>
          <a:prstGeom prst="rect">
            <a:avLst/>
          </a:prstGeom>
          <a:solidFill>
            <a:srgbClr val="E7F2EC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233A"/>
                </a:solidFill>
                <a:latin typeface="Calibri"/>
                <a:ea typeface="Calibri"/>
                <a:cs typeface="Calibri"/>
                <a:sym typeface="Calibri"/>
              </a:rPr>
              <a:t>Ask + 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54880" y="5596128"/>
            <a:ext cx="685800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A5E42"/>
                </a:solidFill>
                <a:latin typeface="Calibri"/>
                <a:ea typeface="Calibri"/>
                <a:cs typeface="Calibri"/>
                <a:sym typeface="Calibri"/>
              </a:rPr>
              <a:t>e.g.  Bill to escalate the Toyota test-data request with the client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749808" y="402336"/>
            <a:ext cx="10863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r>
              <a:rPr b="1" i="0" lang="en-US" sz="1050" u="none" cap="none" strike="noStrike">
                <a:solidFill>
                  <a:srgbClr val="0F8A60"/>
                </a:solidFill>
                <a:latin typeface="Calibri"/>
                <a:ea typeface="Calibri"/>
                <a:cs typeface="Calibri"/>
                <a:sym typeface="Calibri"/>
              </a:rPr>
              <a:t> STAND-UP  ·  FILL-IN TEMPLATE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49808" y="621792"/>
            <a:ext cx="10863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Weekly</a:t>
            </a:r>
            <a:r>
              <a:rPr b="1" i="0" lang="en-US" sz="2700" u="none" cap="none" strike="noStrike">
                <a:solidFill>
                  <a:srgbClr val="14233A"/>
                </a:solidFill>
                <a:latin typeface="Georgia"/>
                <a:ea typeface="Georgia"/>
                <a:cs typeface="Georgia"/>
                <a:sym typeface="Georgia"/>
              </a:rPr>
              <a:t> stand-up template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Duplicate this slide each </a:t>
            </a:r>
            <a:r>
              <a:rPr i="1" lang="en-US" sz="1350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r>
              <a:rPr b="0" i="1" lang="en-US" sz="13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. Fill every field. The number goes first.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{F41CBAC2-1BCF-458B-80DD-430BE508A702}</a:tableStyleId>
              </a:tblPr>
              <a:tblGrid>
                <a:gridCol w="4206250"/>
                <a:gridCol w="6858000"/>
              </a:tblGrid>
              <a:tr h="457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TEAM:  ______________      DATE:  ______________      OWNER:  ______________      REPORTED TO:  ______________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33A"/>
                    </a:solidFill>
                  </a:tcPr>
                </a:tc>
                <a:tc hMerge="1"/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 · THE NUMBER</a:t>
                      </a:r>
                      <a:b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i="1" lang="en-US" sz="1000" u="none" cap="none" strike="noStrike">
                          <a:solidFill>
                            <a:srgbClr val="5B6675"/>
                          </a:solidFill>
                        </a:rPr>
                        <a:t>today vs target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 · THE GAP</a:t>
                      </a:r>
                      <a:b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i="1" lang="en-US" sz="1000" u="none" cap="none" strike="noStrike">
                          <a:solidFill>
                            <a:srgbClr val="5B6675"/>
                          </a:solidFill>
                        </a:rPr>
                        <a:t>what's between us &amp; the next dollar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 · THE MOVE</a:t>
                      </a:r>
                      <a:b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i="1" lang="en-US" sz="1000" u="none" cap="none" strike="noStrike">
                          <a:solidFill>
                            <a:srgbClr val="5B6675"/>
                          </a:solidFill>
                        </a:rPr>
                        <a:t>action  ·  owner  ·  by when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4 · THE BLOCKER</a:t>
                      </a:r>
                      <a:br>
                        <a:rPr b="1" lang="en-US" sz="1300" u="none" cap="none" strike="noStrike">
                          <a:solidFill>
                            <a:srgbClr val="1423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i="1" lang="en-US" sz="1000" u="none" cap="none" strike="noStrike">
                          <a:solidFill>
                            <a:srgbClr val="5B6675"/>
                          </a:solidFill>
                        </a:rPr>
                        <a:t>what's in the way  ·  who removes it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6"/>
          <p:cNvSpPr/>
          <p:nvPr/>
        </p:nvSpPr>
        <p:spPr>
          <a:xfrm>
            <a:off x="548640" y="5989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6675"/>
                </a:solidFill>
                <a:latin typeface="Calibri"/>
                <a:ea typeface="Calibri"/>
                <a:cs typeface="Calibri"/>
                <a:sym typeface="Calibri"/>
              </a:rPr>
              <a:t>STATUS KEY: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691640" y="6035040"/>
            <a:ext cx="182880" cy="182880"/>
          </a:xfrm>
          <a:prstGeom prst="ellipse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947672" y="5989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246120" y="6035040"/>
            <a:ext cx="182880" cy="18288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502152" y="5989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00600" y="6035040"/>
            <a:ext cx="182880" cy="182880"/>
          </a:xfrm>
          <a:prstGeom prst="ellipse">
            <a:avLst/>
          </a:prstGeom>
          <a:solidFill>
            <a:srgbClr val="B2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056632" y="5989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2026-06-03T04:48:54Z</dcterms:created>
  <dc:creator>Nexus Frontier Tech</dc:creator>
</cp:coreProperties>
</file>